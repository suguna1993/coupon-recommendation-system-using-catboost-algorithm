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9" r:id="rId4"/>
    <p:sldId id="268" r:id="rId5"/>
    <p:sldId id="270"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9D1B"/>
    <a:srgbClr val="0635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39B82-ACBF-480C-E300-AFFC82C2AF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E89121-7287-3C16-19F0-861AA62BB7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FBFC5E1-41A9-1834-6956-DC13EDBE376E}"/>
              </a:ext>
            </a:extLst>
          </p:cNvPr>
          <p:cNvSpPr>
            <a:spLocks noGrp="1"/>
          </p:cNvSpPr>
          <p:nvPr>
            <p:ph type="dt" sz="half" idx="10"/>
          </p:nvPr>
        </p:nvSpPr>
        <p:spPr/>
        <p:txBody>
          <a:bodyPr/>
          <a:lstStyle/>
          <a:p>
            <a:fld id="{7BD90807-C445-4545-B6BB-2E6E593DC8BC}" type="datetimeFigureOut">
              <a:rPr lang="en-IN" smtClean="0"/>
              <a:t>27-10-2025</a:t>
            </a:fld>
            <a:endParaRPr lang="en-IN"/>
          </a:p>
        </p:txBody>
      </p:sp>
      <p:sp>
        <p:nvSpPr>
          <p:cNvPr id="5" name="Footer Placeholder 4">
            <a:extLst>
              <a:ext uri="{FF2B5EF4-FFF2-40B4-BE49-F238E27FC236}">
                <a16:creationId xmlns:a16="http://schemas.microsoft.com/office/drawing/2014/main" id="{48AB89B6-378F-E156-D2CB-14323CC15E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02B16C-BB63-BB0C-A899-4DD9718F11C8}"/>
              </a:ext>
            </a:extLst>
          </p:cNvPr>
          <p:cNvSpPr>
            <a:spLocks noGrp="1"/>
          </p:cNvSpPr>
          <p:nvPr>
            <p:ph type="sldNum" sz="quarter" idx="12"/>
          </p:nvPr>
        </p:nvSpPr>
        <p:spPr/>
        <p:txBody>
          <a:bodyPr/>
          <a:lstStyle/>
          <a:p>
            <a:fld id="{E01542FD-FE41-4B23-A7FD-C41985F81AE6}" type="slidenum">
              <a:rPr lang="en-IN" smtClean="0"/>
              <a:t>‹#›</a:t>
            </a:fld>
            <a:endParaRPr lang="en-IN"/>
          </a:p>
        </p:txBody>
      </p:sp>
    </p:spTree>
    <p:extLst>
      <p:ext uri="{BB962C8B-B14F-4D97-AF65-F5344CB8AC3E}">
        <p14:creationId xmlns:p14="http://schemas.microsoft.com/office/powerpoint/2010/main" val="1295029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91465-7342-36EA-F3DC-2DB3EE8A40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83C45F-4A73-2D18-DE2A-BA33983B95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B1833E-997A-304A-D131-5BB71FFC242B}"/>
              </a:ext>
            </a:extLst>
          </p:cNvPr>
          <p:cNvSpPr>
            <a:spLocks noGrp="1"/>
          </p:cNvSpPr>
          <p:nvPr>
            <p:ph type="dt" sz="half" idx="10"/>
          </p:nvPr>
        </p:nvSpPr>
        <p:spPr/>
        <p:txBody>
          <a:bodyPr/>
          <a:lstStyle/>
          <a:p>
            <a:fld id="{7BD90807-C445-4545-B6BB-2E6E593DC8BC}" type="datetimeFigureOut">
              <a:rPr lang="en-IN" smtClean="0"/>
              <a:t>27-10-2025</a:t>
            </a:fld>
            <a:endParaRPr lang="en-IN"/>
          </a:p>
        </p:txBody>
      </p:sp>
      <p:sp>
        <p:nvSpPr>
          <p:cNvPr id="5" name="Footer Placeholder 4">
            <a:extLst>
              <a:ext uri="{FF2B5EF4-FFF2-40B4-BE49-F238E27FC236}">
                <a16:creationId xmlns:a16="http://schemas.microsoft.com/office/drawing/2014/main" id="{F91DCA63-544E-5DEA-585C-87F1EDBFBA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DD22CA-2B24-5441-B605-830262ECA148}"/>
              </a:ext>
            </a:extLst>
          </p:cNvPr>
          <p:cNvSpPr>
            <a:spLocks noGrp="1"/>
          </p:cNvSpPr>
          <p:nvPr>
            <p:ph type="sldNum" sz="quarter" idx="12"/>
          </p:nvPr>
        </p:nvSpPr>
        <p:spPr/>
        <p:txBody>
          <a:bodyPr/>
          <a:lstStyle/>
          <a:p>
            <a:fld id="{E01542FD-FE41-4B23-A7FD-C41985F81AE6}" type="slidenum">
              <a:rPr lang="en-IN" smtClean="0"/>
              <a:t>‹#›</a:t>
            </a:fld>
            <a:endParaRPr lang="en-IN"/>
          </a:p>
        </p:txBody>
      </p:sp>
    </p:spTree>
    <p:extLst>
      <p:ext uri="{BB962C8B-B14F-4D97-AF65-F5344CB8AC3E}">
        <p14:creationId xmlns:p14="http://schemas.microsoft.com/office/powerpoint/2010/main" val="3690112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A183B-3826-7FFD-E0AC-7010AC3294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D16AFE-E21C-1A79-7F9D-AAF1AEA95C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356F4C-8E21-8621-7645-E4F44A79D8BE}"/>
              </a:ext>
            </a:extLst>
          </p:cNvPr>
          <p:cNvSpPr>
            <a:spLocks noGrp="1"/>
          </p:cNvSpPr>
          <p:nvPr>
            <p:ph type="dt" sz="half" idx="10"/>
          </p:nvPr>
        </p:nvSpPr>
        <p:spPr/>
        <p:txBody>
          <a:bodyPr/>
          <a:lstStyle/>
          <a:p>
            <a:fld id="{7BD90807-C445-4545-B6BB-2E6E593DC8BC}" type="datetimeFigureOut">
              <a:rPr lang="en-IN" smtClean="0"/>
              <a:t>27-10-2025</a:t>
            </a:fld>
            <a:endParaRPr lang="en-IN"/>
          </a:p>
        </p:txBody>
      </p:sp>
      <p:sp>
        <p:nvSpPr>
          <p:cNvPr id="5" name="Footer Placeholder 4">
            <a:extLst>
              <a:ext uri="{FF2B5EF4-FFF2-40B4-BE49-F238E27FC236}">
                <a16:creationId xmlns:a16="http://schemas.microsoft.com/office/drawing/2014/main" id="{32E96C68-4812-E1EF-31DC-4BA81B374D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9C264B-ED29-EA05-BDC1-6F26785BE562}"/>
              </a:ext>
            </a:extLst>
          </p:cNvPr>
          <p:cNvSpPr>
            <a:spLocks noGrp="1"/>
          </p:cNvSpPr>
          <p:nvPr>
            <p:ph type="sldNum" sz="quarter" idx="12"/>
          </p:nvPr>
        </p:nvSpPr>
        <p:spPr/>
        <p:txBody>
          <a:bodyPr/>
          <a:lstStyle/>
          <a:p>
            <a:fld id="{E01542FD-FE41-4B23-A7FD-C41985F81AE6}" type="slidenum">
              <a:rPr lang="en-IN" smtClean="0"/>
              <a:t>‹#›</a:t>
            </a:fld>
            <a:endParaRPr lang="en-IN"/>
          </a:p>
        </p:txBody>
      </p:sp>
    </p:spTree>
    <p:extLst>
      <p:ext uri="{BB962C8B-B14F-4D97-AF65-F5344CB8AC3E}">
        <p14:creationId xmlns:p14="http://schemas.microsoft.com/office/powerpoint/2010/main" val="449368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5F5E4-10DE-A77C-84EE-A8C8A07825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1AB32D-097F-0FC8-7D54-8AB893C9F4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BF87A6-6868-645E-CA50-C611887E7D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3A15BE-ED9F-6373-F8EC-7D24E5422D31}"/>
              </a:ext>
            </a:extLst>
          </p:cNvPr>
          <p:cNvSpPr>
            <a:spLocks noGrp="1"/>
          </p:cNvSpPr>
          <p:nvPr>
            <p:ph type="dt" sz="half" idx="10"/>
          </p:nvPr>
        </p:nvSpPr>
        <p:spPr/>
        <p:txBody>
          <a:bodyPr/>
          <a:lstStyle/>
          <a:p>
            <a:fld id="{7BD90807-C445-4545-B6BB-2E6E593DC8BC}" type="datetimeFigureOut">
              <a:rPr lang="en-IN" smtClean="0"/>
              <a:t>27-10-2025</a:t>
            </a:fld>
            <a:endParaRPr lang="en-IN"/>
          </a:p>
        </p:txBody>
      </p:sp>
      <p:sp>
        <p:nvSpPr>
          <p:cNvPr id="6" name="Footer Placeholder 5">
            <a:extLst>
              <a:ext uri="{FF2B5EF4-FFF2-40B4-BE49-F238E27FC236}">
                <a16:creationId xmlns:a16="http://schemas.microsoft.com/office/drawing/2014/main" id="{37470B61-E79E-DB52-40B1-208D0BB113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174545-A033-707C-7D2E-0439BA79F791}"/>
              </a:ext>
            </a:extLst>
          </p:cNvPr>
          <p:cNvSpPr>
            <a:spLocks noGrp="1"/>
          </p:cNvSpPr>
          <p:nvPr>
            <p:ph type="sldNum" sz="quarter" idx="12"/>
          </p:nvPr>
        </p:nvSpPr>
        <p:spPr/>
        <p:txBody>
          <a:bodyPr/>
          <a:lstStyle/>
          <a:p>
            <a:fld id="{E01542FD-FE41-4B23-A7FD-C41985F81AE6}" type="slidenum">
              <a:rPr lang="en-IN" smtClean="0"/>
              <a:t>‹#›</a:t>
            </a:fld>
            <a:endParaRPr lang="en-IN"/>
          </a:p>
        </p:txBody>
      </p:sp>
    </p:spTree>
    <p:extLst>
      <p:ext uri="{BB962C8B-B14F-4D97-AF65-F5344CB8AC3E}">
        <p14:creationId xmlns:p14="http://schemas.microsoft.com/office/powerpoint/2010/main" val="2108919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7989A-FA81-B491-7C67-50E7FF0ACB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81E1DA-256C-C218-C5C7-55B290DEF8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4633DE-579E-2717-73A9-BB416393AA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03FFEB-DFF3-F97F-2464-90C09E1A6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6DDAC5-AACB-C0D3-0113-E06755337F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28A6D91-E654-C9B9-AC19-EA1360E1A9A6}"/>
              </a:ext>
            </a:extLst>
          </p:cNvPr>
          <p:cNvSpPr>
            <a:spLocks noGrp="1"/>
          </p:cNvSpPr>
          <p:nvPr>
            <p:ph type="dt" sz="half" idx="10"/>
          </p:nvPr>
        </p:nvSpPr>
        <p:spPr/>
        <p:txBody>
          <a:bodyPr/>
          <a:lstStyle/>
          <a:p>
            <a:fld id="{7BD90807-C445-4545-B6BB-2E6E593DC8BC}" type="datetimeFigureOut">
              <a:rPr lang="en-IN" smtClean="0"/>
              <a:t>27-10-2025</a:t>
            </a:fld>
            <a:endParaRPr lang="en-IN"/>
          </a:p>
        </p:txBody>
      </p:sp>
      <p:sp>
        <p:nvSpPr>
          <p:cNvPr id="8" name="Footer Placeholder 7">
            <a:extLst>
              <a:ext uri="{FF2B5EF4-FFF2-40B4-BE49-F238E27FC236}">
                <a16:creationId xmlns:a16="http://schemas.microsoft.com/office/drawing/2014/main" id="{6565F611-40BD-EB0A-FD97-9D3449260A8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E4C334-D759-3E98-9BE2-D015712DFD00}"/>
              </a:ext>
            </a:extLst>
          </p:cNvPr>
          <p:cNvSpPr>
            <a:spLocks noGrp="1"/>
          </p:cNvSpPr>
          <p:nvPr>
            <p:ph type="sldNum" sz="quarter" idx="12"/>
          </p:nvPr>
        </p:nvSpPr>
        <p:spPr/>
        <p:txBody>
          <a:bodyPr/>
          <a:lstStyle/>
          <a:p>
            <a:fld id="{E01542FD-FE41-4B23-A7FD-C41985F81AE6}" type="slidenum">
              <a:rPr lang="en-IN" smtClean="0"/>
              <a:t>‹#›</a:t>
            </a:fld>
            <a:endParaRPr lang="en-IN"/>
          </a:p>
        </p:txBody>
      </p:sp>
    </p:spTree>
    <p:extLst>
      <p:ext uri="{BB962C8B-B14F-4D97-AF65-F5344CB8AC3E}">
        <p14:creationId xmlns:p14="http://schemas.microsoft.com/office/powerpoint/2010/main" val="2573811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C6775-B73B-E6D3-0B02-384000079B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2BA828-7CF6-D825-4196-B5F0AE053D6C}"/>
              </a:ext>
            </a:extLst>
          </p:cNvPr>
          <p:cNvSpPr>
            <a:spLocks noGrp="1"/>
          </p:cNvSpPr>
          <p:nvPr>
            <p:ph type="dt" sz="half" idx="10"/>
          </p:nvPr>
        </p:nvSpPr>
        <p:spPr/>
        <p:txBody>
          <a:bodyPr/>
          <a:lstStyle/>
          <a:p>
            <a:fld id="{7BD90807-C445-4545-B6BB-2E6E593DC8BC}" type="datetimeFigureOut">
              <a:rPr lang="en-IN" smtClean="0"/>
              <a:t>27-10-2025</a:t>
            </a:fld>
            <a:endParaRPr lang="en-IN"/>
          </a:p>
        </p:txBody>
      </p:sp>
      <p:sp>
        <p:nvSpPr>
          <p:cNvPr id="4" name="Footer Placeholder 3">
            <a:extLst>
              <a:ext uri="{FF2B5EF4-FFF2-40B4-BE49-F238E27FC236}">
                <a16:creationId xmlns:a16="http://schemas.microsoft.com/office/drawing/2014/main" id="{04EE282D-DEB1-B87F-BC36-331F3B3C8F2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8D9835D-6D90-379B-8950-5F11535975BC}"/>
              </a:ext>
            </a:extLst>
          </p:cNvPr>
          <p:cNvSpPr>
            <a:spLocks noGrp="1"/>
          </p:cNvSpPr>
          <p:nvPr>
            <p:ph type="sldNum" sz="quarter" idx="12"/>
          </p:nvPr>
        </p:nvSpPr>
        <p:spPr/>
        <p:txBody>
          <a:bodyPr/>
          <a:lstStyle/>
          <a:p>
            <a:fld id="{E01542FD-FE41-4B23-A7FD-C41985F81AE6}" type="slidenum">
              <a:rPr lang="en-IN" smtClean="0"/>
              <a:t>‹#›</a:t>
            </a:fld>
            <a:endParaRPr lang="en-IN"/>
          </a:p>
        </p:txBody>
      </p:sp>
    </p:spTree>
    <p:extLst>
      <p:ext uri="{BB962C8B-B14F-4D97-AF65-F5344CB8AC3E}">
        <p14:creationId xmlns:p14="http://schemas.microsoft.com/office/powerpoint/2010/main" val="1899855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029C64-88D2-D7BA-2B2D-7752C14C7D6F}"/>
              </a:ext>
            </a:extLst>
          </p:cNvPr>
          <p:cNvSpPr>
            <a:spLocks noGrp="1"/>
          </p:cNvSpPr>
          <p:nvPr>
            <p:ph type="dt" sz="half" idx="10"/>
          </p:nvPr>
        </p:nvSpPr>
        <p:spPr/>
        <p:txBody>
          <a:bodyPr/>
          <a:lstStyle/>
          <a:p>
            <a:fld id="{7BD90807-C445-4545-B6BB-2E6E593DC8BC}" type="datetimeFigureOut">
              <a:rPr lang="en-IN" smtClean="0"/>
              <a:t>27-10-2025</a:t>
            </a:fld>
            <a:endParaRPr lang="en-IN"/>
          </a:p>
        </p:txBody>
      </p:sp>
      <p:sp>
        <p:nvSpPr>
          <p:cNvPr id="3" name="Footer Placeholder 2">
            <a:extLst>
              <a:ext uri="{FF2B5EF4-FFF2-40B4-BE49-F238E27FC236}">
                <a16:creationId xmlns:a16="http://schemas.microsoft.com/office/drawing/2014/main" id="{14791710-DBE7-86B4-E2A1-D8180F720D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E569D61-7D35-2179-7A44-687E54793F6C}"/>
              </a:ext>
            </a:extLst>
          </p:cNvPr>
          <p:cNvSpPr>
            <a:spLocks noGrp="1"/>
          </p:cNvSpPr>
          <p:nvPr>
            <p:ph type="sldNum" sz="quarter" idx="12"/>
          </p:nvPr>
        </p:nvSpPr>
        <p:spPr/>
        <p:txBody>
          <a:bodyPr/>
          <a:lstStyle/>
          <a:p>
            <a:fld id="{E01542FD-FE41-4B23-A7FD-C41985F81AE6}" type="slidenum">
              <a:rPr lang="en-IN" smtClean="0"/>
              <a:t>‹#›</a:t>
            </a:fld>
            <a:endParaRPr lang="en-IN"/>
          </a:p>
        </p:txBody>
      </p:sp>
    </p:spTree>
    <p:extLst>
      <p:ext uri="{BB962C8B-B14F-4D97-AF65-F5344CB8AC3E}">
        <p14:creationId xmlns:p14="http://schemas.microsoft.com/office/powerpoint/2010/main" val="2624416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C434C-322F-61E0-89A4-C447D26602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B33D8B9-F980-0E03-B9EC-BC2A38E697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02F32D-87EC-7580-F5FE-F6B3CE4632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6E0BFB-F8CF-374D-D2CB-EDB78B2F1689}"/>
              </a:ext>
            </a:extLst>
          </p:cNvPr>
          <p:cNvSpPr>
            <a:spLocks noGrp="1"/>
          </p:cNvSpPr>
          <p:nvPr>
            <p:ph type="dt" sz="half" idx="10"/>
          </p:nvPr>
        </p:nvSpPr>
        <p:spPr/>
        <p:txBody>
          <a:bodyPr/>
          <a:lstStyle/>
          <a:p>
            <a:fld id="{7BD90807-C445-4545-B6BB-2E6E593DC8BC}" type="datetimeFigureOut">
              <a:rPr lang="en-IN" smtClean="0"/>
              <a:t>27-10-2025</a:t>
            </a:fld>
            <a:endParaRPr lang="en-IN"/>
          </a:p>
        </p:txBody>
      </p:sp>
      <p:sp>
        <p:nvSpPr>
          <p:cNvPr id="6" name="Footer Placeholder 5">
            <a:extLst>
              <a:ext uri="{FF2B5EF4-FFF2-40B4-BE49-F238E27FC236}">
                <a16:creationId xmlns:a16="http://schemas.microsoft.com/office/drawing/2014/main" id="{DD38A002-5EE1-B904-46C6-DDABB28CA2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A0A2F6-239F-9E06-E40A-441D7400A893}"/>
              </a:ext>
            </a:extLst>
          </p:cNvPr>
          <p:cNvSpPr>
            <a:spLocks noGrp="1"/>
          </p:cNvSpPr>
          <p:nvPr>
            <p:ph type="sldNum" sz="quarter" idx="12"/>
          </p:nvPr>
        </p:nvSpPr>
        <p:spPr/>
        <p:txBody>
          <a:bodyPr/>
          <a:lstStyle/>
          <a:p>
            <a:fld id="{E01542FD-FE41-4B23-A7FD-C41985F81AE6}" type="slidenum">
              <a:rPr lang="en-IN" smtClean="0"/>
              <a:t>‹#›</a:t>
            </a:fld>
            <a:endParaRPr lang="en-IN"/>
          </a:p>
        </p:txBody>
      </p:sp>
    </p:spTree>
    <p:extLst>
      <p:ext uri="{BB962C8B-B14F-4D97-AF65-F5344CB8AC3E}">
        <p14:creationId xmlns:p14="http://schemas.microsoft.com/office/powerpoint/2010/main" val="282079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51888-37D4-554F-26D1-C56551844A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C671D0-FC7E-3D94-CC30-AC03ADB260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0CD57C-404C-2E25-DEB5-95721DF62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C3770E-C3A0-4477-BE40-A6019CF0E5F5}"/>
              </a:ext>
            </a:extLst>
          </p:cNvPr>
          <p:cNvSpPr>
            <a:spLocks noGrp="1"/>
          </p:cNvSpPr>
          <p:nvPr>
            <p:ph type="dt" sz="half" idx="10"/>
          </p:nvPr>
        </p:nvSpPr>
        <p:spPr/>
        <p:txBody>
          <a:bodyPr/>
          <a:lstStyle/>
          <a:p>
            <a:fld id="{7BD90807-C445-4545-B6BB-2E6E593DC8BC}" type="datetimeFigureOut">
              <a:rPr lang="en-IN" smtClean="0"/>
              <a:t>27-10-2025</a:t>
            </a:fld>
            <a:endParaRPr lang="en-IN"/>
          </a:p>
        </p:txBody>
      </p:sp>
      <p:sp>
        <p:nvSpPr>
          <p:cNvPr id="6" name="Footer Placeholder 5">
            <a:extLst>
              <a:ext uri="{FF2B5EF4-FFF2-40B4-BE49-F238E27FC236}">
                <a16:creationId xmlns:a16="http://schemas.microsoft.com/office/drawing/2014/main" id="{7B8001B7-5CD5-148A-808C-D9C505B153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639775-4824-B692-9B50-0728352ADAF6}"/>
              </a:ext>
            </a:extLst>
          </p:cNvPr>
          <p:cNvSpPr>
            <a:spLocks noGrp="1"/>
          </p:cNvSpPr>
          <p:nvPr>
            <p:ph type="sldNum" sz="quarter" idx="12"/>
          </p:nvPr>
        </p:nvSpPr>
        <p:spPr/>
        <p:txBody>
          <a:bodyPr/>
          <a:lstStyle/>
          <a:p>
            <a:fld id="{E01542FD-FE41-4B23-A7FD-C41985F81AE6}" type="slidenum">
              <a:rPr lang="en-IN" smtClean="0"/>
              <a:t>‹#›</a:t>
            </a:fld>
            <a:endParaRPr lang="en-IN"/>
          </a:p>
        </p:txBody>
      </p:sp>
    </p:spTree>
    <p:extLst>
      <p:ext uri="{BB962C8B-B14F-4D97-AF65-F5344CB8AC3E}">
        <p14:creationId xmlns:p14="http://schemas.microsoft.com/office/powerpoint/2010/main" val="2962218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AB5B-7C3E-E09D-3DA3-E7F1CA449B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A15009-7D78-6C97-0232-055D7CF066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9D27BB-28F3-B8AA-52AC-3D1794B7A442}"/>
              </a:ext>
            </a:extLst>
          </p:cNvPr>
          <p:cNvSpPr>
            <a:spLocks noGrp="1"/>
          </p:cNvSpPr>
          <p:nvPr>
            <p:ph type="dt" sz="half" idx="10"/>
          </p:nvPr>
        </p:nvSpPr>
        <p:spPr/>
        <p:txBody>
          <a:bodyPr/>
          <a:lstStyle/>
          <a:p>
            <a:fld id="{7BD90807-C445-4545-B6BB-2E6E593DC8BC}" type="datetimeFigureOut">
              <a:rPr lang="en-IN" smtClean="0"/>
              <a:t>27-10-2025</a:t>
            </a:fld>
            <a:endParaRPr lang="en-IN"/>
          </a:p>
        </p:txBody>
      </p:sp>
      <p:sp>
        <p:nvSpPr>
          <p:cNvPr id="5" name="Footer Placeholder 4">
            <a:extLst>
              <a:ext uri="{FF2B5EF4-FFF2-40B4-BE49-F238E27FC236}">
                <a16:creationId xmlns:a16="http://schemas.microsoft.com/office/drawing/2014/main" id="{0AC31D9B-9CCD-35DC-31FA-D35AC873F8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58114A-F242-3037-E08D-8C3676095B53}"/>
              </a:ext>
            </a:extLst>
          </p:cNvPr>
          <p:cNvSpPr>
            <a:spLocks noGrp="1"/>
          </p:cNvSpPr>
          <p:nvPr>
            <p:ph type="sldNum" sz="quarter" idx="12"/>
          </p:nvPr>
        </p:nvSpPr>
        <p:spPr/>
        <p:txBody>
          <a:bodyPr/>
          <a:lstStyle/>
          <a:p>
            <a:fld id="{E01542FD-FE41-4B23-A7FD-C41985F81AE6}" type="slidenum">
              <a:rPr lang="en-IN" smtClean="0"/>
              <a:t>‹#›</a:t>
            </a:fld>
            <a:endParaRPr lang="en-IN"/>
          </a:p>
        </p:txBody>
      </p:sp>
    </p:spTree>
    <p:extLst>
      <p:ext uri="{BB962C8B-B14F-4D97-AF65-F5344CB8AC3E}">
        <p14:creationId xmlns:p14="http://schemas.microsoft.com/office/powerpoint/2010/main" val="2581328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AFD0AC-A83C-7124-DC84-3416EB0B1E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E3E265-1130-8DED-EBB2-B47522DDF2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B3F4BA-40A2-19C9-6732-00AF1FBFF1AC}"/>
              </a:ext>
            </a:extLst>
          </p:cNvPr>
          <p:cNvSpPr>
            <a:spLocks noGrp="1"/>
          </p:cNvSpPr>
          <p:nvPr>
            <p:ph type="dt" sz="half" idx="10"/>
          </p:nvPr>
        </p:nvSpPr>
        <p:spPr/>
        <p:txBody>
          <a:bodyPr/>
          <a:lstStyle/>
          <a:p>
            <a:fld id="{7BD90807-C445-4545-B6BB-2E6E593DC8BC}" type="datetimeFigureOut">
              <a:rPr lang="en-IN" smtClean="0"/>
              <a:t>27-10-2025</a:t>
            </a:fld>
            <a:endParaRPr lang="en-IN"/>
          </a:p>
        </p:txBody>
      </p:sp>
      <p:sp>
        <p:nvSpPr>
          <p:cNvPr id="5" name="Footer Placeholder 4">
            <a:extLst>
              <a:ext uri="{FF2B5EF4-FFF2-40B4-BE49-F238E27FC236}">
                <a16:creationId xmlns:a16="http://schemas.microsoft.com/office/drawing/2014/main" id="{B23D7304-568D-F23A-7CF3-996D18E906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94EC91-282B-3853-3F26-40F60C595AFF}"/>
              </a:ext>
            </a:extLst>
          </p:cNvPr>
          <p:cNvSpPr>
            <a:spLocks noGrp="1"/>
          </p:cNvSpPr>
          <p:nvPr>
            <p:ph type="sldNum" sz="quarter" idx="12"/>
          </p:nvPr>
        </p:nvSpPr>
        <p:spPr/>
        <p:txBody>
          <a:bodyPr/>
          <a:lstStyle/>
          <a:p>
            <a:fld id="{E01542FD-FE41-4B23-A7FD-C41985F81AE6}" type="slidenum">
              <a:rPr lang="en-IN" smtClean="0"/>
              <a:t>‹#›</a:t>
            </a:fld>
            <a:endParaRPr lang="en-IN"/>
          </a:p>
        </p:txBody>
      </p:sp>
    </p:spTree>
    <p:extLst>
      <p:ext uri="{BB962C8B-B14F-4D97-AF65-F5344CB8AC3E}">
        <p14:creationId xmlns:p14="http://schemas.microsoft.com/office/powerpoint/2010/main" val="3543361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D85B1E-01AA-7F52-7EBA-F05F01AD0F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52D940-C5FA-CCEE-8095-53869A139E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487A87-9EFC-C0A0-BD5D-7B11F0E47A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D90807-C445-4545-B6BB-2E6E593DC8BC}" type="datetimeFigureOut">
              <a:rPr lang="en-IN" smtClean="0"/>
              <a:t>27-10-2025</a:t>
            </a:fld>
            <a:endParaRPr lang="en-IN"/>
          </a:p>
        </p:txBody>
      </p:sp>
      <p:sp>
        <p:nvSpPr>
          <p:cNvPr id="5" name="Footer Placeholder 4">
            <a:extLst>
              <a:ext uri="{FF2B5EF4-FFF2-40B4-BE49-F238E27FC236}">
                <a16:creationId xmlns:a16="http://schemas.microsoft.com/office/drawing/2014/main" id="{74FAD7A6-2917-D2BA-3D6A-5D9BAB6BB3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A7629D2-AAC5-FAD7-4A86-9835BF199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1542FD-FE41-4B23-A7FD-C41985F81AE6}" type="slidenum">
              <a:rPr lang="en-IN" smtClean="0"/>
              <a:t>‹#›</a:t>
            </a:fld>
            <a:endParaRPr lang="en-IN"/>
          </a:p>
        </p:txBody>
      </p:sp>
    </p:spTree>
    <p:extLst>
      <p:ext uri="{BB962C8B-B14F-4D97-AF65-F5344CB8AC3E}">
        <p14:creationId xmlns:p14="http://schemas.microsoft.com/office/powerpoint/2010/main" val="751084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48916F-9527-F573-9585-212E8215D251}"/>
              </a:ext>
            </a:extLst>
          </p:cNvPr>
          <p:cNvSpPr>
            <a:spLocks noGrp="1"/>
          </p:cNvSpPr>
          <p:nvPr>
            <p:ph type="title"/>
          </p:nvPr>
        </p:nvSpPr>
        <p:spPr>
          <a:xfrm>
            <a:off x="838200" y="-126488"/>
            <a:ext cx="10515600" cy="1325563"/>
          </a:xfrm>
        </p:spPr>
        <p:txBody>
          <a:bodyPr>
            <a:normAutofit/>
          </a:bodyPr>
          <a:lstStyle/>
          <a:p>
            <a:pPr algn="ctr">
              <a:spcBef>
                <a:spcPts val="0"/>
              </a:spcBef>
              <a:buSzPts val="3200"/>
            </a:pPr>
            <a:r>
              <a:rPr lang="en-IN" sz="2800" b="1" dirty="0">
                <a:solidFill>
                  <a:srgbClr val="C00000"/>
                </a:solidFill>
                <a:latin typeface="Times New Roman" panose="02020603050405020304" pitchFamily="18" charset="0"/>
                <a:ea typeface="+mn-ea"/>
                <a:cs typeface="Times New Roman" panose="02020603050405020304" pitchFamily="18" charset="0"/>
                <a:sym typeface="Arial"/>
              </a:rPr>
              <a:t>Title : </a:t>
            </a:r>
            <a:r>
              <a:rPr lang="en-IN" sz="2800" b="1" dirty="0">
                <a:solidFill>
                  <a:srgbClr val="0070C0"/>
                </a:solidFill>
                <a:latin typeface="Times New Roman" panose="02020603050405020304" pitchFamily="18" charset="0"/>
                <a:ea typeface="+mn-ea"/>
                <a:cs typeface="Times New Roman" panose="02020603050405020304" pitchFamily="18" charset="0"/>
                <a:sym typeface="Arial"/>
              </a:rPr>
              <a:t>Coupon Recommendation System using </a:t>
            </a:r>
            <a:r>
              <a:rPr lang="en-IN" sz="2800" b="1" dirty="0" err="1">
                <a:solidFill>
                  <a:srgbClr val="0070C0"/>
                </a:solidFill>
                <a:latin typeface="Times New Roman" panose="02020603050405020304" pitchFamily="18" charset="0"/>
                <a:ea typeface="+mn-ea"/>
                <a:cs typeface="Times New Roman" panose="02020603050405020304" pitchFamily="18" charset="0"/>
                <a:sym typeface="Arial"/>
              </a:rPr>
              <a:t>CatBoost</a:t>
            </a:r>
            <a:r>
              <a:rPr lang="en-IN" sz="2800" b="1" dirty="0">
                <a:solidFill>
                  <a:srgbClr val="0070C0"/>
                </a:solidFill>
                <a:latin typeface="Times New Roman" panose="02020603050405020304" pitchFamily="18" charset="0"/>
                <a:ea typeface="+mn-ea"/>
                <a:cs typeface="Times New Roman" panose="02020603050405020304" pitchFamily="18" charset="0"/>
                <a:sym typeface="Arial"/>
              </a:rPr>
              <a:t> ML model: </a:t>
            </a:r>
            <a:r>
              <a:rPr lang="en-IN" sz="2800" b="1" i="1" dirty="0">
                <a:solidFill>
                  <a:srgbClr val="0070C0"/>
                </a:solidFill>
                <a:latin typeface="Times New Roman" panose="02020603050405020304" pitchFamily="18" charset="0"/>
                <a:ea typeface="+mn-ea"/>
                <a:cs typeface="Times New Roman" panose="02020603050405020304" pitchFamily="18" charset="0"/>
                <a:sym typeface="Arial"/>
              </a:rPr>
              <a:t>Coupon Accepted Vs Rejected</a:t>
            </a:r>
            <a:endParaRPr lang="en-IN" sz="2800" b="1" i="1" dirty="0">
              <a:solidFill>
                <a:srgbClr val="0070C0"/>
              </a:solidFill>
              <a:latin typeface="Times New Roman" panose="02020603050405020304" pitchFamily="18" charset="0"/>
              <a:ea typeface="+mn-ea"/>
              <a:cs typeface="Times New Roman" panose="02020603050405020304" pitchFamily="18" charset="0"/>
            </a:endParaRPr>
          </a:p>
        </p:txBody>
      </p:sp>
      <p:sp>
        <p:nvSpPr>
          <p:cNvPr id="7" name="Content Placeholder 6">
            <a:extLst>
              <a:ext uri="{FF2B5EF4-FFF2-40B4-BE49-F238E27FC236}">
                <a16:creationId xmlns:a16="http://schemas.microsoft.com/office/drawing/2014/main" id="{B9E94229-FA5C-F0A5-18E6-43750C3B6FE7}"/>
              </a:ext>
            </a:extLst>
          </p:cNvPr>
          <p:cNvSpPr>
            <a:spLocks noGrp="1"/>
          </p:cNvSpPr>
          <p:nvPr>
            <p:ph idx="1"/>
          </p:nvPr>
        </p:nvSpPr>
        <p:spPr>
          <a:xfrm>
            <a:off x="838200" y="1376516"/>
            <a:ext cx="10515600" cy="4800447"/>
          </a:xfrm>
        </p:spPr>
        <p:txBody>
          <a:bodyPr>
            <a:normAutofit/>
          </a:bodyPr>
          <a:lstStyle/>
          <a:p>
            <a:pPr marL="0" indent="0">
              <a:buNone/>
            </a:pPr>
            <a:r>
              <a:rPr lang="en-IN" sz="2200" b="1" dirty="0">
                <a:solidFill>
                  <a:srgbClr val="C00000"/>
                </a:solidFill>
                <a:latin typeface="Times New Roman" panose="02020603050405020304" pitchFamily="18" charset="0"/>
                <a:ea typeface="Arial"/>
                <a:cs typeface="Times New Roman" panose="02020603050405020304" pitchFamily="18" charset="0"/>
                <a:sym typeface="Arial"/>
              </a:rPr>
              <a:t>Problem Statement:</a:t>
            </a:r>
          </a:p>
          <a:p>
            <a:pPr marL="0" indent="0" algn="just">
              <a:spcBef>
                <a:spcPts val="0"/>
              </a:spcBef>
              <a:buSzPts val="2400"/>
              <a:buNone/>
            </a:pPr>
            <a:endParaRPr lang="en-US" sz="2200" dirty="0">
              <a:latin typeface="Times New Roman" panose="02020603050405020304" pitchFamily="18" charset="0"/>
              <a:cs typeface="Times New Roman" panose="02020603050405020304" pitchFamily="18" charset="0"/>
            </a:endParaRPr>
          </a:p>
          <a:p>
            <a:pPr marL="0" indent="0" algn="just">
              <a:spcBef>
                <a:spcPts val="0"/>
              </a:spcBef>
              <a:buSzPts val="2400"/>
              <a:buNone/>
            </a:pPr>
            <a:r>
              <a:rPr lang="en-US" sz="2200" dirty="0">
                <a:latin typeface="Times New Roman" panose="02020603050405020304" pitchFamily="18" charset="0"/>
                <a:cs typeface="Times New Roman" panose="02020603050405020304" pitchFamily="18" charset="0"/>
              </a:rPr>
              <a:t>This data was collected via a survey on the Ecom website Mechanical Turk. The survey describes different driving scenarios including the user’s destination, current time, weather, passenger, coupon attributes, user attributes, and contextual attributes, and then asks the user whether he/she will accept the coupon or not.</a:t>
            </a:r>
          </a:p>
          <a:p>
            <a:pPr marL="0" lvl="0" indent="0" algn="just">
              <a:spcBef>
                <a:spcPts val="0"/>
              </a:spcBef>
              <a:buSzPts val="2400"/>
              <a:buNone/>
            </a:pPr>
            <a:endParaRPr lang="en-US" sz="2200" dirty="0">
              <a:solidFill>
                <a:srgbClr val="0D0D0D"/>
              </a:solidFill>
              <a:latin typeface="Times New Roman" panose="02020603050405020304" pitchFamily="18" charset="0"/>
              <a:ea typeface="Arial"/>
              <a:cs typeface="Times New Roman" panose="02020603050405020304" pitchFamily="18" charset="0"/>
              <a:sym typeface="Arial"/>
            </a:endParaRPr>
          </a:p>
          <a:p>
            <a:pPr marL="0" lvl="0" indent="0">
              <a:buSzPts val="2400"/>
              <a:buNone/>
            </a:pPr>
            <a:r>
              <a:rPr lang="en-IN" sz="2200" b="1" dirty="0">
                <a:solidFill>
                  <a:srgbClr val="C00000"/>
                </a:solidFill>
                <a:latin typeface="Times New Roman" panose="02020603050405020304" pitchFamily="18" charset="0"/>
                <a:cs typeface="Times New Roman" panose="02020603050405020304" pitchFamily="18" charset="0"/>
              </a:rPr>
              <a:t>Objective/Goal:</a:t>
            </a:r>
          </a:p>
          <a:p>
            <a:pPr marL="0" lvl="0" indent="0" algn="just">
              <a:spcBef>
                <a:spcPts val="0"/>
              </a:spcBef>
              <a:buSzPts val="2400"/>
              <a:buNone/>
            </a:pPr>
            <a:endParaRPr lang="en-US" sz="2200" dirty="0">
              <a:solidFill>
                <a:srgbClr val="0D0D0D"/>
              </a:solidFill>
              <a:latin typeface="Times New Roman" panose="02020603050405020304" pitchFamily="18" charset="0"/>
              <a:ea typeface="Arial"/>
              <a:cs typeface="Times New Roman" panose="02020603050405020304" pitchFamily="18" charset="0"/>
              <a:sym typeface="Arial"/>
            </a:endParaRPr>
          </a:p>
          <a:p>
            <a:pPr marL="0" indent="0" algn="just">
              <a:lnSpc>
                <a:spcPct val="100000"/>
              </a:lnSpc>
              <a:spcBef>
                <a:spcPts val="0"/>
              </a:spcBef>
              <a:buSzPts val="2400"/>
              <a:buNone/>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goal of the Coupon Recommendation System project</a:t>
            </a:r>
            <a:r>
              <a:rPr lang="en-US" sz="2200" dirty="0">
                <a:latin typeface="Times New Roman" panose="02020603050405020304" pitchFamily="18" charset="0"/>
                <a:cs typeface="Times New Roman" panose="02020603050405020304" pitchFamily="18" charset="0"/>
              </a:rPr>
              <a:t> is to build a machine learning model that can accurately </a:t>
            </a:r>
            <a:r>
              <a:rPr lang="en-US" sz="2200" b="1" dirty="0">
                <a:latin typeface="Times New Roman" panose="02020603050405020304" pitchFamily="18" charset="0"/>
                <a:cs typeface="Times New Roman" panose="02020603050405020304" pitchFamily="18" charset="0"/>
              </a:rPr>
              <a:t>predict whether a user will accept a coupon offer</a:t>
            </a:r>
            <a:r>
              <a:rPr lang="en-US" sz="2200" dirty="0">
                <a:latin typeface="Times New Roman" panose="02020603050405020304" pitchFamily="18" charset="0"/>
                <a:cs typeface="Times New Roman" panose="02020603050405020304" pitchFamily="18" charset="0"/>
              </a:rPr>
              <a:t>, based on their personal attributes, lifestyle habits, and driving context.</a:t>
            </a:r>
          </a:p>
          <a:p>
            <a:pPr marL="0" indent="0" algn="just">
              <a:lnSpc>
                <a:spcPct val="100000"/>
              </a:lnSpc>
              <a:spcBef>
                <a:spcPts val="0"/>
              </a:spcBef>
              <a:buSzPts val="2400"/>
              <a:buNone/>
            </a:pPr>
            <a:endParaRPr lang="en-US" sz="2200" dirty="0">
              <a:latin typeface="Times New Roman" panose="02020603050405020304" pitchFamily="18" charset="0"/>
              <a:cs typeface="Times New Roman" panose="02020603050405020304" pitchFamily="18" charset="0"/>
            </a:endParaRPr>
          </a:p>
          <a:p>
            <a:pPr marL="0" indent="0" algn="just">
              <a:lnSpc>
                <a:spcPct val="100000"/>
              </a:lnSpc>
              <a:spcBef>
                <a:spcPts val="0"/>
              </a:spcBef>
              <a:buSzPts val="2400"/>
              <a:buNone/>
            </a:pPr>
            <a:r>
              <a:rPr lang="en-IN" sz="2200" b="1" dirty="0">
                <a:solidFill>
                  <a:srgbClr val="C00000"/>
                </a:solidFill>
                <a:latin typeface="Times New Roman" panose="02020603050405020304" pitchFamily="18" charset="0"/>
                <a:cs typeface="Times New Roman" panose="02020603050405020304" pitchFamily="18" charset="0"/>
              </a:rPr>
              <a:t>Business Impact: </a:t>
            </a:r>
            <a:r>
              <a:rPr lang="en-IN" sz="2200" dirty="0">
                <a:latin typeface="Times New Roman" panose="02020603050405020304" pitchFamily="18" charset="0"/>
                <a:cs typeface="Times New Roman" panose="02020603050405020304" pitchFamily="18" charset="0"/>
              </a:rPr>
              <a:t>Helps optimize targeted promotions and improve redemption rates.</a:t>
            </a:r>
          </a:p>
          <a:p>
            <a:pPr marL="0" indent="0" algn="just">
              <a:lnSpc>
                <a:spcPct val="100000"/>
              </a:lnSpc>
              <a:spcBef>
                <a:spcPts val="0"/>
              </a:spcBef>
              <a:buSzPts val="2400"/>
              <a:buNone/>
            </a:pPr>
            <a:endParaRPr lang="en-US" sz="2200" dirty="0">
              <a:latin typeface="Times New Roman" panose="02020603050405020304" pitchFamily="18" charset="0"/>
              <a:cs typeface="Times New Roman" panose="02020603050405020304" pitchFamily="18" charset="0"/>
            </a:endParaRPr>
          </a:p>
          <a:p>
            <a:pPr marL="0" indent="0" algn="just">
              <a:lnSpc>
                <a:spcPct val="100000"/>
              </a:lnSpc>
              <a:spcBef>
                <a:spcPts val="0"/>
              </a:spcBef>
              <a:buSzPts val="2400"/>
              <a:buNone/>
            </a:pPr>
            <a:endParaRPr lang="en-US" sz="2200" dirty="0">
              <a:latin typeface="Times New Roman" panose="02020603050405020304" pitchFamily="18" charset="0"/>
              <a:cs typeface="Times New Roman" panose="02020603050405020304" pitchFamily="18" charset="0"/>
              <a:sym typeface="Arial"/>
            </a:endParaRPr>
          </a:p>
          <a:p>
            <a:pPr marL="0" lvl="0" indent="0" algn="just">
              <a:spcBef>
                <a:spcPts val="0"/>
              </a:spcBef>
              <a:buSzPts val="2400"/>
              <a:buNone/>
            </a:pPr>
            <a:endParaRPr lang="en-US" sz="2200" dirty="0">
              <a:solidFill>
                <a:srgbClr val="0D0D0D"/>
              </a:solidFill>
              <a:latin typeface="Times New Roman" panose="02020603050405020304" pitchFamily="18" charset="0"/>
              <a:ea typeface="Arial"/>
              <a:cs typeface="Times New Roman" panose="02020603050405020304" pitchFamily="18" charset="0"/>
              <a:sym typeface="Arial"/>
            </a:endParaRPr>
          </a:p>
          <a:p>
            <a:pPr marL="0" lvl="0" indent="0" algn="just">
              <a:spcBef>
                <a:spcPts val="0"/>
              </a:spcBef>
              <a:buSzPts val="2400"/>
              <a:buNone/>
            </a:pPr>
            <a:endParaRPr lang="en-US" sz="2200" dirty="0">
              <a:solidFill>
                <a:srgbClr val="0D0D0D"/>
              </a:solidFill>
              <a:latin typeface="Times New Roman" panose="02020603050405020304" pitchFamily="18" charset="0"/>
              <a:ea typeface="Arial"/>
              <a:cs typeface="Times New Roman" panose="02020603050405020304" pitchFamily="18" charset="0"/>
              <a:sym typeface="Arial"/>
            </a:endParaRPr>
          </a:p>
          <a:p>
            <a:pPr marL="91440" lvl="0" indent="0">
              <a:spcBef>
                <a:spcPts val="1400"/>
              </a:spcBef>
              <a:buSzPts val="2000"/>
              <a:buNone/>
            </a:pPr>
            <a:endParaRPr lang="en-US"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a:p>
            <a:pPr marL="514350" lvl="0" indent="-514350" algn="just">
              <a:spcBef>
                <a:spcPts val="0"/>
              </a:spcBef>
              <a:buSzPts val="2400"/>
              <a:buFont typeface="+mj-lt"/>
              <a:buAutoNum type="arabicPeriod"/>
            </a:pPr>
            <a:endParaRPr lang="en-US" sz="2200" dirty="0">
              <a:solidFill>
                <a:schemeClr val="dk1"/>
              </a:solidFill>
              <a:latin typeface="Times New Roman" panose="02020603050405020304" pitchFamily="18" charset="0"/>
              <a:cs typeface="Times New Roman" panose="02020603050405020304" pitchFamily="18" charset="0"/>
            </a:endParaRPr>
          </a:p>
          <a:p>
            <a:pPr marL="0" lvl="0" indent="0" algn="just">
              <a:spcBef>
                <a:spcPts val="1400"/>
              </a:spcBef>
              <a:buSzPts val="2400"/>
              <a:buNone/>
            </a:pPr>
            <a:endParaRPr lang="en-US"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3336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BB5D2-B3E8-324D-7683-106EA82F85FE}"/>
              </a:ext>
            </a:extLst>
          </p:cNvPr>
          <p:cNvSpPr>
            <a:spLocks noGrp="1"/>
          </p:cNvSpPr>
          <p:nvPr>
            <p:ph type="title"/>
          </p:nvPr>
        </p:nvSpPr>
        <p:spPr/>
        <p:txBody>
          <a:bodyPr>
            <a:normAutofit/>
          </a:bodyPr>
          <a:lstStyle/>
          <a:p>
            <a:pPr algn="ctr"/>
            <a:r>
              <a:rPr lang="en-US" sz="2800" b="1" dirty="0">
                <a:solidFill>
                  <a:srgbClr val="C00000"/>
                </a:solidFill>
                <a:latin typeface="Times New Roman" panose="02020603050405020304" pitchFamily="18" charset="0"/>
                <a:ea typeface="+mn-ea"/>
                <a:cs typeface="Times New Roman" panose="02020603050405020304" pitchFamily="18" charset="0"/>
              </a:rPr>
              <a:t>Will a Customer Accept the Coupon?</a:t>
            </a:r>
            <a:br>
              <a:rPr lang="en-US" sz="2800" b="1" dirty="0">
                <a:solidFill>
                  <a:srgbClr val="C00000"/>
                </a:solidFill>
                <a:latin typeface="Times New Roman" panose="02020603050405020304" pitchFamily="18" charset="0"/>
                <a:ea typeface="+mn-ea"/>
                <a:cs typeface="Times New Roman" panose="02020603050405020304" pitchFamily="18" charset="0"/>
              </a:rPr>
            </a:br>
            <a:endParaRPr lang="en-IN" sz="2800" b="1" dirty="0">
              <a:solidFill>
                <a:srgbClr val="C00000"/>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75099E35-A605-427F-0536-AB32AC630914}"/>
              </a:ext>
            </a:extLst>
          </p:cNvPr>
          <p:cNvSpPr>
            <a:spLocks noGrp="1"/>
          </p:cNvSpPr>
          <p:nvPr>
            <p:ph idx="1"/>
          </p:nvPr>
        </p:nvSpPr>
        <p:spPr>
          <a:xfrm>
            <a:off x="838200" y="1140542"/>
            <a:ext cx="10515600" cy="5036421"/>
          </a:xfrm>
        </p:spPr>
        <p:txBody>
          <a:bodyPr>
            <a:normAutofit fontScale="92500" lnSpcReduction="10000"/>
          </a:bodyPr>
          <a:lstStyle/>
          <a:p>
            <a:pPr marL="0" indent="0" algn="just">
              <a:buNone/>
            </a:pPr>
            <a:r>
              <a:rPr lang="en-US" sz="2200" b="1" dirty="0">
                <a:latin typeface="Times New Roman" panose="02020603050405020304" pitchFamily="18" charset="0"/>
                <a:cs typeface="Times New Roman" panose="02020603050405020304" pitchFamily="18" charset="0"/>
              </a:rPr>
              <a:t>Context</a:t>
            </a: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Imagine driving through town and a coupon is delivered to your cell phone for a restaurant near where you are driving. </a:t>
            </a:r>
          </a:p>
          <a:p>
            <a:pPr marL="457200" indent="-457200" algn="just">
              <a:buFont typeface="+mj-lt"/>
              <a:buAutoNum type="alphaLcPeriod"/>
            </a:pPr>
            <a:r>
              <a:rPr lang="en-US" sz="2200" dirty="0">
                <a:latin typeface="Times New Roman" panose="02020603050405020304" pitchFamily="18" charset="0"/>
                <a:cs typeface="Times New Roman" panose="02020603050405020304" pitchFamily="18" charset="0"/>
              </a:rPr>
              <a:t>Would you accept that coupon and take a short detour to the restaurant? </a:t>
            </a:r>
          </a:p>
          <a:p>
            <a:pPr marL="457200" indent="-457200" algn="just">
              <a:buFont typeface="+mj-lt"/>
              <a:buAutoNum type="alphaLcPeriod"/>
            </a:pPr>
            <a:r>
              <a:rPr lang="en-US" sz="2200" dirty="0">
                <a:latin typeface="Times New Roman" panose="02020603050405020304" pitchFamily="18" charset="0"/>
                <a:cs typeface="Times New Roman" panose="02020603050405020304" pitchFamily="18" charset="0"/>
              </a:rPr>
              <a:t>Would you accept the coupon but use it on a subsequent trip?</a:t>
            </a:r>
          </a:p>
          <a:p>
            <a:pPr marL="457200" indent="-457200" algn="just">
              <a:buFont typeface="+mj-lt"/>
              <a:buAutoNum type="alphaLcPeriod"/>
            </a:pPr>
            <a:r>
              <a:rPr lang="en-US" sz="2200" dirty="0">
                <a:latin typeface="Times New Roman" panose="02020603050405020304" pitchFamily="18" charset="0"/>
                <a:cs typeface="Times New Roman" panose="02020603050405020304" pitchFamily="18" charset="0"/>
              </a:rPr>
              <a:t> Would you ignore the coupon entirely?</a:t>
            </a:r>
          </a:p>
          <a:p>
            <a:pPr marL="457200" indent="-457200" algn="just">
              <a:buFont typeface="+mj-lt"/>
              <a:buAutoNum type="alphaLcPeriod"/>
            </a:pPr>
            <a:r>
              <a:rPr lang="en-US" sz="2200" dirty="0">
                <a:latin typeface="Times New Roman" panose="02020603050405020304" pitchFamily="18" charset="0"/>
                <a:cs typeface="Times New Roman" panose="02020603050405020304" pitchFamily="18" charset="0"/>
              </a:rPr>
              <a:t> What if the coupon was for a bar instead of a restaurant? </a:t>
            </a:r>
          </a:p>
          <a:p>
            <a:pPr marL="457200" indent="-457200" algn="just">
              <a:buFont typeface="+mj-lt"/>
              <a:buAutoNum type="alphaLcPeriod"/>
            </a:pPr>
            <a:r>
              <a:rPr lang="en-US" sz="2200" dirty="0">
                <a:latin typeface="Times New Roman" panose="02020603050405020304" pitchFamily="18" charset="0"/>
                <a:cs typeface="Times New Roman" panose="02020603050405020304" pitchFamily="18" charset="0"/>
              </a:rPr>
              <a:t>What about a coffee house? </a:t>
            </a:r>
          </a:p>
          <a:p>
            <a:pPr marL="457200" indent="-457200" algn="just">
              <a:buFont typeface="+mj-lt"/>
              <a:buAutoNum type="alphaLcPeriod"/>
            </a:pPr>
            <a:r>
              <a:rPr lang="en-US" sz="2200" dirty="0">
                <a:latin typeface="Times New Roman" panose="02020603050405020304" pitchFamily="18" charset="0"/>
                <a:cs typeface="Times New Roman" panose="02020603050405020304" pitchFamily="18" charset="0"/>
              </a:rPr>
              <a:t>Would you accept a bar coupon with a minor passenger in the car? </a:t>
            </a:r>
          </a:p>
          <a:p>
            <a:pPr marL="457200" indent="-457200" algn="just">
              <a:buFont typeface="+mj-lt"/>
              <a:buAutoNum type="alphaLcPeriod"/>
            </a:pPr>
            <a:r>
              <a:rPr lang="en-US" sz="2200" dirty="0">
                <a:latin typeface="Times New Roman" panose="02020603050405020304" pitchFamily="18" charset="0"/>
                <a:cs typeface="Times New Roman" panose="02020603050405020304" pitchFamily="18" charset="0"/>
              </a:rPr>
              <a:t>What about if it was just you and your partner in the car? </a:t>
            </a:r>
          </a:p>
          <a:p>
            <a:pPr marL="457200" indent="-457200" algn="just">
              <a:buFont typeface="+mj-lt"/>
              <a:buAutoNum type="alphaLcPeriod"/>
            </a:pPr>
            <a:r>
              <a:rPr lang="en-US" sz="2200" dirty="0">
                <a:latin typeface="Times New Roman" panose="02020603050405020304" pitchFamily="18" charset="0"/>
                <a:cs typeface="Times New Roman" panose="02020603050405020304" pitchFamily="18" charset="0"/>
              </a:rPr>
              <a:t>Would weather impact the rate of acceptance? What about the time of day?</a:t>
            </a:r>
          </a:p>
          <a:p>
            <a:pPr algn="just"/>
            <a:r>
              <a:rPr lang="en-US" sz="2200" dirty="0">
                <a:latin typeface="Times New Roman" panose="02020603050405020304" pitchFamily="18" charset="0"/>
                <a:cs typeface="Times New Roman" panose="02020603050405020304" pitchFamily="18" charset="0"/>
              </a:rPr>
              <a:t>Obviously, proximity to the business is a factor on whether the coupon is delivered to the driver or not, but what are the factors that determine whether a driver accepts the coupon once it is delivered to them? How would you determine whether a driver is likely to accept a coupon?</a:t>
            </a:r>
          </a:p>
          <a:p>
            <a:pPr algn="just"/>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6800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22E6F-8FFA-7250-0085-CA58629EEE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AD19F0-395A-C771-E993-E9F17F0E76C0}"/>
              </a:ext>
            </a:extLst>
          </p:cNvPr>
          <p:cNvSpPr>
            <a:spLocks noGrp="1"/>
          </p:cNvSpPr>
          <p:nvPr>
            <p:ph sz="half" idx="1"/>
          </p:nvPr>
        </p:nvSpPr>
        <p:spPr>
          <a:xfrm>
            <a:off x="265471" y="550606"/>
            <a:ext cx="2418735" cy="5626357"/>
          </a:xfrm>
        </p:spPr>
        <p:txBody>
          <a:bodyPr>
            <a:normAutofit/>
          </a:bodyPr>
          <a:lstStyle/>
          <a:p>
            <a:pPr marL="0" indent="0">
              <a:buNone/>
            </a:pPr>
            <a:r>
              <a:rPr lang="en-IN" sz="1800" b="1" dirty="0">
                <a:solidFill>
                  <a:srgbClr val="C00000"/>
                </a:solidFill>
                <a:latin typeface="Times New Roman" panose="02020603050405020304" pitchFamily="18" charset="0"/>
                <a:cs typeface="Times New Roman" panose="02020603050405020304" pitchFamily="18" charset="0"/>
              </a:rPr>
              <a:t>ML Model Life cycle</a:t>
            </a:r>
            <a:endParaRPr lang="en-IN" sz="1800" dirty="0">
              <a:latin typeface="Times New Roman" panose="02020603050405020304" pitchFamily="18" charset="0"/>
              <a:cs typeface="Times New Roman" panose="02020603050405020304" pitchFamily="18" charset="0"/>
            </a:endParaRPr>
          </a:p>
          <a:p>
            <a:pPr marL="514350" indent="-514350">
              <a:buAutoNum type="arabicPeriod"/>
            </a:pPr>
            <a:endParaRPr lang="en-IN" sz="1800" dirty="0">
              <a:latin typeface="Times New Roman" panose="02020603050405020304" pitchFamily="18" charset="0"/>
              <a:cs typeface="Times New Roman" panose="02020603050405020304" pitchFamily="18" charset="0"/>
            </a:endParaRPr>
          </a:p>
          <a:p>
            <a:pPr marL="514350" indent="-514350">
              <a:buAutoNum type="arabicPeriod"/>
            </a:pPr>
            <a:r>
              <a:rPr lang="en-IN" sz="1800" dirty="0">
                <a:latin typeface="Times New Roman" panose="02020603050405020304" pitchFamily="18" charset="0"/>
                <a:cs typeface="Times New Roman" panose="02020603050405020304" pitchFamily="18" charset="0"/>
              </a:rPr>
              <a:t>Problem Definition</a:t>
            </a:r>
          </a:p>
          <a:p>
            <a:pPr marL="514350" indent="-514350">
              <a:buAutoNum type="arabicPeriod"/>
            </a:pPr>
            <a:r>
              <a:rPr lang="en-IN" sz="1800" dirty="0">
                <a:latin typeface="Times New Roman" panose="02020603050405020304" pitchFamily="18" charset="0"/>
                <a:cs typeface="Times New Roman" panose="02020603050405020304" pitchFamily="18" charset="0"/>
              </a:rPr>
              <a:t>Data Collection</a:t>
            </a:r>
          </a:p>
          <a:p>
            <a:pPr marL="514350" indent="-514350">
              <a:buAutoNum type="arabicPeriod"/>
            </a:pPr>
            <a:r>
              <a:rPr lang="en-IN" sz="1800" dirty="0">
                <a:latin typeface="Times New Roman" panose="02020603050405020304" pitchFamily="18" charset="0"/>
                <a:cs typeface="Times New Roman" panose="02020603050405020304" pitchFamily="18" charset="0"/>
              </a:rPr>
              <a:t>Data Preprocessing</a:t>
            </a:r>
          </a:p>
          <a:p>
            <a:pPr marL="514350" indent="-514350">
              <a:buAutoNum type="arabicPeriod"/>
            </a:pPr>
            <a:r>
              <a:rPr lang="en-IN" sz="1800" dirty="0">
                <a:latin typeface="Times New Roman" panose="02020603050405020304" pitchFamily="18" charset="0"/>
                <a:cs typeface="Times New Roman" panose="02020603050405020304" pitchFamily="18" charset="0"/>
              </a:rPr>
              <a:t>Model Selection</a:t>
            </a:r>
          </a:p>
          <a:p>
            <a:pPr marL="514350" indent="-514350">
              <a:buAutoNum type="arabicPeriod"/>
            </a:pPr>
            <a:r>
              <a:rPr lang="en-IN" sz="1800" dirty="0">
                <a:latin typeface="Times New Roman" panose="02020603050405020304" pitchFamily="18" charset="0"/>
                <a:cs typeface="Times New Roman" panose="02020603050405020304" pitchFamily="18" charset="0"/>
              </a:rPr>
              <a:t>Model Training</a:t>
            </a:r>
          </a:p>
          <a:p>
            <a:pPr marL="514350" indent="-514350">
              <a:buAutoNum type="arabicPeriod"/>
            </a:pPr>
            <a:r>
              <a:rPr lang="en-IN" sz="1800" dirty="0">
                <a:latin typeface="Times New Roman" panose="02020603050405020304" pitchFamily="18" charset="0"/>
                <a:cs typeface="Times New Roman" panose="02020603050405020304" pitchFamily="18" charset="0"/>
              </a:rPr>
              <a:t>Model Evaluation</a:t>
            </a:r>
          </a:p>
          <a:p>
            <a:pPr marL="514350" indent="-514350">
              <a:buAutoNum type="arabicPeriod"/>
            </a:pPr>
            <a:r>
              <a:rPr lang="en-IN" sz="1800" dirty="0">
                <a:latin typeface="Times New Roman" panose="02020603050405020304" pitchFamily="18" charset="0"/>
                <a:cs typeface="Times New Roman" panose="02020603050405020304" pitchFamily="18" charset="0"/>
              </a:rPr>
              <a:t>Model Deployment</a:t>
            </a:r>
          </a:p>
        </p:txBody>
      </p:sp>
      <p:sp>
        <p:nvSpPr>
          <p:cNvPr id="4" name="Content Placeholder 3">
            <a:extLst>
              <a:ext uri="{FF2B5EF4-FFF2-40B4-BE49-F238E27FC236}">
                <a16:creationId xmlns:a16="http://schemas.microsoft.com/office/drawing/2014/main" id="{FDC550FD-6E93-4D52-D041-C3FED5BF3CBA}"/>
              </a:ext>
            </a:extLst>
          </p:cNvPr>
          <p:cNvSpPr>
            <a:spLocks noGrp="1"/>
          </p:cNvSpPr>
          <p:nvPr>
            <p:ph sz="half" idx="2"/>
          </p:nvPr>
        </p:nvSpPr>
        <p:spPr>
          <a:xfrm>
            <a:off x="2831690" y="88490"/>
            <a:ext cx="9360310" cy="6518787"/>
          </a:xfrm>
        </p:spPr>
        <p:txBody>
          <a:bodyPr>
            <a:noAutofit/>
          </a:bodyPr>
          <a:lstStyle/>
          <a:p>
            <a:pPr marL="342900" indent="-342900" algn="just">
              <a:buAutoNum type="arabicPeriod"/>
            </a:pPr>
            <a:r>
              <a:rPr lang="en-US" sz="1600" b="1" dirty="0">
                <a:solidFill>
                  <a:srgbClr val="C00000"/>
                </a:solidFill>
                <a:latin typeface="Times New Roman" panose="02020603050405020304" pitchFamily="18" charset="0"/>
                <a:cs typeface="Times New Roman" panose="02020603050405020304" pitchFamily="18" charset="0"/>
              </a:rPr>
              <a:t>Problem Definition</a:t>
            </a:r>
          </a:p>
          <a:p>
            <a:pPr algn="just"/>
            <a:r>
              <a:rPr lang="en-US" sz="1600" dirty="0">
                <a:latin typeface="Times New Roman" panose="02020603050405020304" pitchFamily="18" charset="0"/>
                <a:cs typeface="Times New Roman" panose="02020603050405020304" pitchFamily="18" charset="0"/>
              </a:rPr>
              <a:t>Businesses often distribute promotional coupons to attract customers, but many of these offers go unused, leading to wasted marketing efforts and lost revenue. The challenge is to </a:t>
            </a:r>
            <a:r>
              <a:rPr lang="en-US" sz="1600" b="1" dirty="0">
                <a:latin typeface="Times New Roman" panose="02020603050405020304" pitchFamily="18" charset="0"/>
                <a:cs typeface="Times New Roman" panose="02020603050405020304" pitchFamily="18" charset="0"/>
              </a:rPr>
              <a:t>predict whether a customer will accept a coupon</a:t>
            </a:r>
            <a:r>
              <a:rPr lang="en-US" sz="1600" dirty="0">
                <a:latin typeface="Times New Roman" panose="02020603050405020304" pitchFamily="18" charset="0"/>
                <a:cs typeface="Times New Roman" panose="02020603050405020304" pitchFamily="18" charset="0"/>
              </a:rPr>
              <a:t> based on their demographic profile, behavioral patterns, and contextual driving conditions.</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This project aims to build a machine learning model that can:</a:t>
            </a:r>
          </a:p>
          <a:p>
            <a:pPr algn="just"/>
            <a:r>
              <a:rPr lang="en-US" sz="1600" dirty="0">
                <a:latin typeface="Times New Roman" panose="02020603050405020304" pitchFamily="18" charset="0"/>
                <a:cs typeface="Times New Roman" panose="02020603050405020304" pitchFamily="18" charset="0"/>
              </a:rPr>
              <a:t>Analyze customer attributes (e.g., age, income, marital status)</a:t>
            </a:r>
          </a:p>
          <a:p>
            <a:pPr algn="just"/>
            <a:r>
              <a:rPr lang="en-US" sz="1600" dirty="0">
                <a:latin typeface="Times New Roman" panose="02020603050405020304" pitchFamily="18" charset="0"/>
                <a:cs typeface="Times New Roman" panose="02020603050405020304" pitchFamily="18" charset="0"/>
              </a:rPr>
              <a:t>Understand behavioral habits (e.g., frequency of visiting bars, coffee houses, restaurants)</a:t>
            </a:r>
          </a:p>
          <a:p>
            <a:pPr algn="just"/>
            <a:r>
              <a:rPr lang="en-US" sz="1600" dirty="0">
                <a:latin typeface="Times New Roman" panose="02020603050405020304" pitchFamily="18" charset="0"/>
                <a:cs typeface="Times New Roman" panose="02020603050405020304" pitchFamily="18" charset="0"/>
              </a:rPr>
              <a:t>Factor in travel context (e.g., weather, direction, driving time)</a:t>
            </a:r>
          </a:p>
          <a:p>
            <a:pPr algn="just"/>
            <a:r>
              <a:rPr lang="en-US" sz="1600" dirty="0">
                <a:latin typeface="Times New Roman" panose="02020603050405020304" pitchFamily="18" charset="0"/>
                <a:cs typeface="Times New Roman" panose="02020603050405020304" pitchFamily="18" charset="0"/>
              </a:rPr>
              <a:t>Predict the likelihood of coupon acceptance</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By accurately forecasting coupon acceptance, businesses can:</a:t>
            </a:r>
          </a:p>
          <a:p>
            <a:pPr algn="just"/>
            <a:r>
              <a:rPr lang="en-US" sz="1600" dirty="0">
                <a:latin typeface="Times New Roman" panose="02020603050405020304" pitchFamily="18" charset="0"/>
                <a:cs typeface="Times New Roman" panose="02020603050405020304" pitchFamily="18" charset="0"/>
              </a:rPr>
              <a:t>Target the right customers with relevant offers</a:t>
            </a:r>
          </a:p>
          <a:p>
            <a:pPr algn="just"/>
            <a:r>
              <a:rPr lang="en-US" sz="1600" dirty="0">
                <a:latin typeface="Times New Roman" panose="02020603050405020304" pitchFamily="18" charset="0"/>
                <a:cs typeface="Times New Roman" panose="02020603050405020304" pitchFamily="18" charset="0"/>
              </a:rPr>
              <a:t>Increase redemption rates</a:t>
            </a:r>
          </a:p>
          <a:p>
            <a:pPr algn="just"/>
            <a:r>
              <a:rPr lang="en-US" sz="1600" dirty="0">
                <a:latin typeface="Times New Roman" panose="02020603050405020304" pitchFamily="18" charset="0"/>
                <a:cs typeface="Times New Roman" panose="02020603050405020304" pitchFamily="18" charset="0"/>
              </a:rPr>
              <a:t>Optimize marketing spend</a:t>
            </a:r>
          </a:p>
          <a:p>
            <a:pPr algn="just"/>
            <a:r>
              <a:rPr lang="en-US" sz="1600" dirty="0">
                <a:latin typeface="Times New Roman" panose="02020603050405020304" pitchFamily="18" charset="0"/>
                <a:cs typeface="Times New Roman" panose="02020603050405020304" pitchFamily="18" charset="0"/>
              </a:rPr>
              <a:t>Enhance customer engagement and satisfaction</a:t>
            </a:r>
          </a:p>
          <a:p>
            <a:pPr marL="0" indent="0" algn="just">
              <a:buNone/>
            </a:pPr>
            <a:r>
              <a:rPr lang="en-IN" sz="1600" b="1" dirty="0">
                <a:solidFill>
                  <a:srgbClr val="C00000"/>
                </a:solidFill>
                <a:latin typeface="Times New Roman" panose="02020603050405020304" pitchFamily="18" charset="0"/>
                <a:cs typeface="Times New Roman" panose="02020603050405020304" pitchFamily="18" charset="0"/>
              </a:rPr>
              <a:t>2. Data collection – </a:t>
            </a:r>
            <a:r>
              <a:rPr lang="en-US" sz="1600" dirty="0">
                <a:latin typeface="Times New Roman" panose="02020603050405020304" pitchFamily="18" charset="0"/>
                <a:cs typeface="Times New Roman" panose="02020603050405020304" pitchFamily="18" charset="0"/>
              </a:rPr>
              <a:t>Simulated driving scenarios where users were offered coupons</a:t>
            </a:r>
          </a:p>
          <a:p>
            <a:pPr algn="just"/>
            <a:r>
              <a:rPr lang="en-US" sz="1600" dirty="0">
                <a:latin typeface="Times New Roman" panose="02020603050405020304" pitchFamily="18" charset="0"/>
                <a:cs typeface="Times New Roman" panose="02020603050405020304" pitchFamily="18" charset="0"/>
              </a:rPr>
              <a:t>Captured </a:t>
            </a:r>
            <a:r>
              <a:rPr lang="en-US" sz="1600" b="1" dirty="0">
                <a:latin typeface="Times New Roman" panose="02020603050405020304" pitchFamily="18" charset="0"/>
                <a:cs typeface="Times New Roman" panose="02020603050405020304" pitchFamily="18" charset="0"/>
              </a:rPr>
              <a:t>demographics</a:t>
            </a:r>
            <a:r>
              <a:rPr lang="en-US" sz="1600" dirty="0">
                <a:latin typeface="Times New Roman" panose="02020603050405020304" pitchFamily="18" charset="0"/>
                <a:cs typeface="Times New Roman" panose="02020603050405020304" pitchFamily="18" charset="0"/>
              </a:rPr>
              <a:t> (age, income, education, marital status)</a:t>
            </a:r>
          </a:p>
          <a:p>
            <a:pPr algn="just"/>
            <a:r>
              <a:rPr lang="en-US" sz="1600" dirty="0">
                <a:latin typeface="Times New Roman" panose="02020603050405020304" pitchFamily="18" charset="0"/>
                <a:cs typeface="Times New Roman" panose="02020603050405020304" pitchFamily="18" charset="0"/>
              </a:rPr>
              <a:t>Logged </a:t>
            </a:r>
            <a:r>
              <a:rPr lang="en-US" sz="1600" b="1" dirty="0">
                <a:latin typeface="Times New Roman" panose="02020603050405020304" pitchFamily="18" charset="0"/>
                <a:cs typeface="Times New Roman" panose="02020603050405020304" pitchFamily="18" charset="0"/>
              </a:rPr>
              <a:t>behavioral habits</a:t>
            </a:r>
            <a:r>
              <a:rPr lang="en-US" sz="1600" dirty="0">
                <a:latin typeface="Times New Roman" panose="02020603050405020304" pitchFamily="18" charset="0"/>
                <a:cs typeface="Times New Roman" panose="02020603050405020304" pitchFamily="18" charset="0"/>
              </a:rPr>
              <a:t> (visits to bars, coffee houses, restaurants)</a:t>
            </a:r>
          </a:p>
          <a:p>
            <a:pPr algn="just"/>
            <a:r>
              <a:rPr lang="en-US" sz="1600" dirty="0">
                <a:latin typeface="Times New Roman" panose="02020603050405020304" pitchFamily="18" charset="0"/>
                <a:cs typeface="Times New Roman" panose="02020603050405020304" pitchFamily="18" charset="0"/>
              </a:rPr>
              <a:t>Included </a:t>
            </a:r>
            <a:r>
              <a:rPr lang="en-US" sz="1600" b="1" dirty="0">
                <a:latin typeface="Times New Roman" panose="02020603050405020304" pitchFamily="18" charset="0"/>
                <a:cs typeface="Times New Roman" panose="02020603050405020304" pitchFamily="18" charset="0"/>
              </a:rPr>
              <a:t>contextual data</a:t>
            </a:r>
            <a:r>
              <a:rPr lang="en-US" sz="1600" dirty="0">
                <a:latin typeface="Times New Roman" panose="02020603050405020304" pitchFamily="18" charset="0"/>
                <a:cs typeface="Times New Roman" panose="02020603050405020304" pitchFamily="18" charset="0"/>
              </a:rPr>
              <a:t> (weather, direction, travel time)</a:t>
            </a:r>
          </a:p>
          <a:p>
            <a:pPr algn="just"/>
            <a:r>
              <a:rPr lang="en-US" sz="1600" dirty="0">
                <a:latin typeface="Times New Roman" panose="02020603050405020304" pitchFamily="18" charset="0"/>
                <a:cs typeface="Times New Roman" panose="02020603050405020304" pitchFamily="18" charset="0"/>
              </a:rPr>
              <a:t>Recorded whether the coupon was </a:t>
            </a:r>
            <a:r>
              <a:rPr lang="en-US" sz="1600" b="1" dirty="0">
                <a:latin typeface="Times New Roman" panose="02020603050405020304" pitchFamily="18" charset="0"/>
                <a:cs typeface="Times New Roman" panose="02020603050405020304" pitchFamily="18" charset="0"/>
              </a:rPr>
              <a:t>accepted or rejected</a:t>
            </a:r>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Purpose: </a:t>
            </a:r>
            <a:r>
              <a:rPr lang="en-US" sz="1600" dirty="0">
                <a:latin typeface="Times New Roman" panose="02020603050405020304" pitchFamily="18" charset="0"/>
                <a:cs typeface="Times New Roman" panose="02020603050405020304" pitchFamily="18" charset="0"/>
              </a:rPr>
              <a:t>To build a predictive model that understands how personal traits and driving context influence coupon acceptance.</a:t>
            </a:r>
          </a:p>
          <a:p>
            <a:pPr marL="0" indent="0" algn="just">
              <a:buSzPts val="2400"/>
              <a:buNone/>
            </a:pPr>
            <a:endParaRPr lang="en-US"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27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55DA00-989D-06E1-33F3-4053A5DE4607}"/>
              </a:ext>
            </a:extLst>
          </p:cNvPr>
          <p:cNvSpPr>
            <a:spLocks noGrp="1"/>
          </p:cNvSpPr>
          <p:nvPr>
            <p:ph sz="half" idx="1"/>
          </p:nvPr>
        </p:nvSpPr>
        <p:spPr>
          <a:xfrm>
            <a:off x="838200" y="275303"/>
            <a:ext cx="5181600" cy="5901660"/>
          </a:xfrm>
        </p:spPr>
        <p:txBody>
          <a:bodyPr>
            <a:noAutofit/>
          </a:bodyPr>
          <a:lstStyle/>
          <a:p>
            <a:pPr marL="0" indent="0">
              <a:buNone/>
            </a:pPr>
            <a:r>
              <a:rPr lang="en-IN" sz="1800" b="1" dirty="0">
                <a:solidFill>
                  <a:srgbClr val="C00000"/>
                </a:solidFill>
                <a:latin typeface="Times New Roman" panose="02020603050405020304" pitchFamily="18" charset="0"/>
                <a:cs typeface="Times New Roman" panose="02020603050405020304" pitchFamily="18" charset="0"/>
              </a:rPr>
              <a:t>3.Data Preprocessing Steps</a:t>
            </a:r>
          </a:p>
          <a:p>
            <a:pPr marL="0" indent="0">
              <a:buNone/>
            </a:pPr>
            <a:r>
              <a:rPr lang="en-US" sz="1800" b="1" dirty="0">
                <a:solidFill>
                  <a:srgbClr val="0635CA"/>
                </a:solidFill>
                <a:latin typeface="Times New Roman" panose="02020603050405020304" pitchFamily="18" charset="0"/>
                <a:cs typeface="Times New Roman" panose="02020603050405020304" pitchFamily="18" charset="0"/>
              </a:rPr>
              <a:t>1.Duplicate Removal</a:t>
            </a:r>
          </a:p>
          <a:p>
            <a:pPr lvl="0"/>
            <a:r>
              <a:rPr lang="en-IN" sz="1800" dirty="0">
                <a:latin typeface="Times New Roman" panose="02020603050405020304" pitchFamily="18" charset="0"/>
                <a:cs typeface="Times New Roman" panose="02020603050405020304" pitchFamily="18" charset="0"/>
              </a:rPr>
              <a:t>Removed </a:t>
            </a:r>
            <a:r>
              <a:rPr lang="en-IN" sz="1800" b="1" dirty="0">
                <a:latin typeface="Times New Roman" panose="02020603050405020304" pitchFamily="18" charset="0"/>
                <a:cs typeface="Times New Roman" panose="02020603050405020304" pitchFamily="18" charset="0"/>
              </a:rPr>
              <a:t>291 duplicate rows</a:t>
            </a:r>
            <a:endParaRPr lang="en-IN" sz="18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Final dataset: </a:t>
            </a:r>
            <a:r>
              <a:rPr lang="en-IN" sz="1800" b="1" dirty="0">
                <a:latin typeface="Times New Roman" panose="02020603050405020304" pitchFamily="18" charset="0"/>
                <a:cs typeface="Times New Roman" panose="02020603050405020304" pitchFamily="18" charset="0"/>
              </a:rPr>
              <a:t>12,393 rows</a:t>
            </a:r>
            <a:endParaRPr lang="en-IN" sz="1800" dirty="0">
              <a:latin typeface="Times New Roman" panose="02020603050405020304" pitchFamily="18" charset="0"/>
              <a:cs typeface="Times New Roman" panose="02020603050405020304" pitchFamily="18" charset="0"/>
            </a:endParaRPr>
          </a:p>
          <a:p>
            <a:pPr marL="0" indent="0">
              <a:buNone/>
            </a:pPr>
            <a:r>
              <a:rPr lang="en-US" sz="1800" b="1" dirty="0">
                <a:solidFill>
                  <a:srgbClr val="0635CA"/>
                </a:solidFill>
                <a:latin typeface="Times New Roman" panose="02020603050405020304" pitchFamily="18" charset="0"/>
                <a:cs typeface="Times New Roman" panose="02020603050405020304" pitchFamily="18" charset="0"/>
              </a:rPr>
              <a:t>2.Missing Value Handling</a:t>
            </a:r>
          </a:p>
          <a:p>
            <a:pPr lvl="0"/>
            <a:r>
              <a:rPr lang="en-IN" sz="1800" dirty="0">
                <a:latin typeface="Times New Roman" panose="02020603050405020304" pitchFamily="18" charset="0"/>
                <a:cs typeface="Times New Roman" panose="02020603050405020304" pitchFamily="18" charset="0"/>
              </a:rPr>
              <a:t> Dropped car column (99% missing)</a:t>
            </a:r>
          </a:p>
          <a:p>
            <a:pPr lvl="0"/>
            <a:r>
              <a:rPr lang="en-IN" sz="1800" dirty="0">
                <a:latin typeface="Times New Roman" panose="02020603050405020304" pitchFamily="18" charset="0"/>
                <a:cs typeface="Times New Roman" panose="02020603050405020304" pitchFamily="18" charset="0"/>
              </a:rPr>
              <a:t>Imputed remaining missing values:</a:t>
            </a:r>
          </a:p>
          <a:p>
            <a:pPr lvl="1"/>
            <a:r>
              <a:rPr lang="en-IN" sz="1800" b="1" dirty="0">
                <a:latin typeface="Times New Roman" panose="02020603050405020304" pitchFamily="18" charset="0"/>
                <a:cs typeface="Times New Roman" panose="02020603050405020304" pitchFamily="18" charset="0"/>
              </a:rPr>
              <a:t>Mode</a:t>
            </a:r>
            <a:r>
              <a:rPr lang="en-IN" sz="1800" dirty="0">
                <a:latin typeface="Times New Roman" panose="02020603050405020304" pitchFamily="18" charset="0"/>
                <a:cs typeface="Times New Roman" panose="02020603050405020304" pitchFamily="18" charset="0"/>
              </a:rPr>
              <a:t> for categorical features</a:t>
            </a:r>
          </a:p>
          <a:p>
            <a:pPr lvl="1"/>
            <a:r>
              <a:rPr lang="en-IN" sz="1800" b="1" dirty="0">
                <a:latin typeface="Times New Roman" panose="02020603050405020304" pitchFamily="18" charset="0"/>
                <a:cs typeface="Times New Roman" panose="02020603050405020304" pitchFamily="18" charset="0"/>
              </a:rPr>
              <a:t>Median</a:t>
            </a:r>
            <a:r>
              <a:rPr lang="en-IN" sz="1800" dirty="0">
                <a:latin typeface="Times New Roman" panose="02020603050405020304" pitchFamily="18" charset="0"/>
                <a:cs typeface="Times New Roman" panose="02020603050405020304" pitchFamily="18" charset="0"/>
              </a:rPr>
              <a:t> for numerical features</a:t>
            </a:r>
          </a:p>
          <a:p>
            <a:pPr marL="0" indent="0">
              <a:buNone/>
            </a:pPr>
            <a:r>
              <a:rPr lang="en-US" sz="1800" b="1" dirty="0">
                <a:solidFill>
                  <a:srgbClr val="0635CA"/>
                </a:solidFill>
                <a:latin typeface="Times New Roman" panose="02020603050405020304" pitchFamily="18" charset="0"/>
                <a:cs typeface="Times New Roman" panose="02020603050405020304" pitchFamily="18" charset="0"/>
              </a:rPr>
              <a:t>3.</a:t>
            </a:r>
            <a:r>
              <a:rPr lang="en-IN" sz="1800" b="1" dirty="0">
                <a:solidFill>
                  <a:srgbClr val="0635CA"/>
                </a:solidFill>
                <a:latin typeface="Times New Roman" panose="02020603050405020304" pitchFamily="18" charset="0"/>
                <a:cs typeface="Times New Roman" panose="02020603050405020304" pitchFamily="18" charset="0"/>
              </a:rPr>
              <a:t> Feature Cleaning</a:t>
            </a:r>
          </a:p>
          <a:p>
            <a:pPr lvl="0"/>
            <a:r>
              <a:rPr lang="en-IN" sz="1800" dirty="0">
                <a:latin typeface="Times New Roman" panose="02020603050405020304" pitchFamily="18" charset="0"/>
                <a:cs typeface="Times New Roman" panose="02020603050405020304" pitchFamily="18" charset="0"/>
              </a:rPr>
              <a:t>Dropped toCoupon_GEQ5min (only 1 unique value)</a:t>
            </a:r>
          </a:p>
          <a:p>
            <a:pPr marL="0" indent="0">
              <a:buNone/>
            </a:pPr>
            <a:r>
              <a:rPr lang="en-US" sz="1800" b="1" dirty="0">
                <a:latin typeface="Times New Roman" panose="02020603050405020304" pitchFamily="18" charset="0"/>
                <a:cs typeface="Times New Roman" panose="02020603050405020304" pitchFamily="18" charset="0"/>
              </a:rPr>
              <a:t>   Income Cleaning</a:t>
            </a:r>
          </a:p>
          <a:p>
            <a:r>
              <a:rPr lang="en-US" sz="1800" dirty="0">
                <a:latin typeface="Times New Roman" panose="02020603050405020304" pitchFamily="18" charset="0"/>
                <a:cs typeface="Times New Roman" panose="02020603050405020304" pitchFamily="18" charset="0"/>
              </a:rPr>
              <a:t>Converted messy strings like:</a:t>
            </a:r>
          </a:p>
          <a:p>
            <a:pPr lvl="1"/>
            <a:r>
              <a:rPr lang="en-US" sz="1800" dirty="0">
                <a:latin typeface="Times New Roman" panose="02020603050405020304" pitchFamily="18" charset="0"/>
                <a:cs typeface="Times New Roman" panose="02020603050405020304" pitchFamily="18" charset="0"/>
              </a:rPr>
              <a:t>"37500-49999", "Lessthan12500", "100000 or More"</a:t>
            </a:r>
          </a:p>
          <a:p>
            <a:r>
              <a:rPr lang="en-US" sz="1800" dirty="0">
                <a:latin typeface="Times New Roman" panose="02020603050405020304" pitchFamily="18" charset="0"/>
                <a:cs typeface="Times New Roman" panose="02020603050405020304" pitchFamily="18" charset="0"/>
              </a:rPr>
              <a:t>Used </a:t>
            </a:r>
            <a:r>
              <a:rPr lang="en-US" sz="1800" dirty="0" err="1">
                <a:latin typeface="Times New Roman" panose="02020603050405020304" pitchFamily="18" charset="0"/>
                <a:cs typeface="Times New Roman" panose="02020603050405020304" pitchFamily="18" charset="0"/>
              </a:rPr>
              <a:t>clean_income</a:t>
            </a:r>
            <a:r>
              <a:rPr lang="en-US" sz="1800" dirty="0">
                <a:latin typeface="Times New Roman" panose="02020603050405020304" pitchFamily="18" charset="0"/>
                <a:cs typeface="Times New Roman" panose="02020603050405020304" pitchFamily="18" charset="0"/>
              </a:rPr>
              <a:t>() function to extract and standardize numeric values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2D455AF-7533-3C7E-BE1C-B0B9BF966BBA}"/>
              </a:ext>
            </a:extLst>
          </p:cNvPr>
          <p:cNvSpPr>
            <a:spLocks noGrp="1"/>
          </p:cNvSpPr>
          <p:nvPr>
            <p:ph sz="half" idx="2"/>
          </p:nvPr>
        </p:nvSpPr>
        <p:spPr>
          <a:xfrm>
            <a:off x="6172200" y="412955"/>
            <a:ext cx="5181600" cy="5764008"/>
          </a:xfrm>
        </p:spPr>
        <p:txBody>
          <a:bodyPr>
            <a:normAutofit/>
          </a:bodyPr>
          <a:lstStyle/>
          <a:p>
            <a:pPr marL="0" indent="0">
              <a:buNone/>
            </a:pPr>
            <a:r>
              <a:rPr lang="en-IN" sz="1800" b="1" dirty="0">
                <a:solidFill>
                  <a:srgbClr val="0635CA"/>
                </a:solidFill>
                <a:latin typeface="Times New Roman" panose="02020603050405020304" pitchFamily="18" charset="0"/>
                <a:cs typeface="Times New Roman" panose="02020603050405020304" pitchFamily="18" charset="0"/>
              </a:rPr>
              <a:t>4.Outlier Detection</a:t>
            </a:r>
          </a:p>
          <a:p>
            <a:pPr lvl="0"/>
            <a:r>
              <a:rPr lang="en-IN" sz="1800" dirty="0">
                <a:latin typeface="Times New Roman" panose="02020603050405020304" pitchFamily="18" charset="0"/>
                <a:cs typeface="Times New Roman" panose="02020603050405020304" pitchFamily="18" charset="0"/>
              </a:rPr>
              <a:t>Applied </a:t>
            </a:r>
            <a:r>
              <a:rPr lang="en-IN" sz="1800" b="1" dirty="0">
                <a:latin typeface="Times New Roman" panose="02020603050405020304" pitchFamily="18" charset="0"/>
                <a:cs typeface="Times New Roman" panose="02020603050405020304" pitchFamily="18" charset="0"/>
              </a:rPr>
              <a:t>IQR method</a:t>
            </a:r>
            <a:r>
              <a:rPr lang="en-IN" sz="1800" dirty="0">
                <a:latin typeface="Times New Roman" panose="02020603050405020304" pitchFamily="18" charset="0"/>
                <a:cs typeface="Times New Roman" panose="02020603050405020304" pitchFamily="18" charset="0"/>
              </a:rPr>
              <a:t> to numerical features</a:t>
            </a:r>
          </a:p>
          <a:p>
            <a:pPr lvl="0"/>
            <a:r>
              <a:rPr lang="en-IN" sz="1800" dirty="0">
                <a:latin typeface="Times New Roman" panose="02020603050405020304" pitchFamily="18" charset="0"/>
                <a:cs typeface="Times New Roman" panose="02020603050405020304" pitchFamily="18" charset="0"/>
              </a:rPr>
              <a:t>No significant outliers found</a:t>
            </a:r>
          </a:p>
          <a:p>
            <a:pPr marL="0" indent="0">
              <a:buNone/>
            </a:pPr>
            <a:r>
              <a:rPr lang="en-IN" sz="1800" b="1" dirty="0">
                <a:solidFill>
                  <a:srgbClr val="0635CA"/>
                </a:solidFill>
                <a:latin typeface="Times New Roman" panose="02020603050405020304" pitchFamily="18" charset="0"/>
                <a:cs typeface="Times New Roman" panose="02020603050405020304" pitchFamily="18" charset="0"/>
              </a:rPr>
              <a:t>5. Categorical Encoding</a:t>
            </a:r>
          </a:p>
          <a:p>
            <a:pPr lvl="0"/>
            <a:r>
              <a:rPr lang="en-IN" sz="1800" dirty="0">
                <a:latin typeface="Times New Roman" panose="02020603050405020304" pitchFamily="18" charset="0"/>
                <a:cs typeface="Times New Roman" panose="02020603050405020304" pitchFamily="18" charset="0"/>
              </a:rPr>
              <a:t>For models like Logistic Regression &amp; KNN:</a:t>
            </a:r>
          </a:p>
          <a:p>
            <a:pPr lvl="1"/>
            <a:r>
              <a:rPr lang="en-IN" sz="1800" dirty="0">
                <a:latin typeface="Times New Roman" panose="02020603050405020304" pitchFamily="18" charset="0"/>
                <a:cs typeface="Times New Roman" panose="02020603050405020304" pitchFamily="18" charset="0"/>
              </a:rPr>
              <a:t>Used </a:t>
            </a:r>
            <a:r>
              <a:rPr lang="en-IN" sz="1800" b="1" dirty="0">
                <a:latin typeface="Times New Roman" panose="02020603050405020304" pitchFamily="18" charset="0"/>
                <a:cs typeface="Times New Roman" panose="02020603050405020304" pitchFamily="18" charset="0"/>
              </a:rPr>
              <a:t>Label Encoding</a:t>
            </a:r>
            <a:endParaRPr lang="en-IN" sz="18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For </a:t>
            </a:r>
            <a:r>
              <a:rPr lang="en-IN" sz="1800" dirty="0" err="1">
                <a:latin typeface="Times New Roman" panose="02020603050405020304" pitchFamily="18" charset="0"/>
                <a:cs typeface="Times New Roman" panose="02020603050405020304" pitchFamily="18" charset="0"/>
              </a:rPr>
              <a:t>CatBoost</a:t>
            </a:r>
            <a:r>
              <a:rPr lang="en-IN" sz="1800" dirty="0">
                <a:latin typeface="Times New Roman" panose="02020603050405020304" pitchFamily="18" charset="0"/>
                <a:cs typeface="Times New Roman" panose="02020603050405020304" pitchFamily="18" charset="0"/>
              </a:rPr>
              <a:t>:</a:t>
            </a:r>
          </a:p>
          <a:p>
            <a:pPr lvl="1"/>
            <a:r>
              <a:rPr lang="en-IN" sz="1800" dirty="0">
                <a:latin typeface="Times New Roman" panose="02020603050405020304" pitchFamily="18" charset="0"/>
                <a:cs typeface="Times New Roman" panose="02020603050405020304" pitchFamily="18" charset="0"/>
              </a:rPr>
              <a:t>Passed raw categorical columns directly</a:t>
            </a:r>
          </a:p>
          <a:p>
            <a:pPr marL="0" indent="0">
              <a:buNone/>
            </a:pPr>
            <a:r>
              <a:rPr lang="en-IN" sz="1800" b="1" dirty="0">
                <a:solidFill>
                  <a:srgbClr val="0635CA"/>
                </a:solidFill>
                <a:latin typeface="Times New Roman" panose="02020603050405020304" pitchFamily="18" charset="0"/>
                <a:cs typeface="Times New Roman" panose="02020603050405020304" pitchFamily="18" charset="0"/>
              </a:rPr>
              <a:t>6 Feature Scaling</a:t>
            </a:r>
          </a:p>
          <a:p>
            <a:pPr lvl="0"/>
            <a:r>
              <a:rPr lang="en-IN" sz="1800" dirty="0">
                <a:latin typeface="Times New Roman" panose="02020603050405020304" pitchFamily="18" charset="0"/>
                <a:cs typeface="Times New Roman" panose="02020603050405020304" pitchFamily="18" charset="0"/>
              </a:rPr>
              <a:t>Applied </a:t>
            </a:r>
            <a:r>
              <a:rPr lang="en-IN" sz="1800" b="1" dirty="0">
                <a:latin typeface="Times New Roman" panose="02020603050405020304" pitchFamily="18" charset="0"/>
                <a:cs typeface="Times New Roman" panose="02020603050405020304" pitchFamily="18" charset="0"/>
              </a:rPr>
              <a:t>StandardScaler</a:t>
            </a:r>
            <a:r>
              <a:rPr lang="en-IN" sz="1800" dirty="0">
                <a:latin typeface="Times New Roman" panose="02020603050405020304" pitchFamily="18" charset="0"/>
                <a:cs typeface="Times New Roman" panose="02020603050405020304" pitchFamily="18" charset="0"/>
              </a:rPr>
              <a:t> only to models that require it:</a:t>
            </a:r>
          </a:p>
          <a:p>
            <a:pPr lvl="1"/>
            <a:r>
              <a:rPr lang="en-IN" sz="1800" dirty="0">
                <a:latin typeface="Times New Roman" panose="02020603050405020304" pitchFamily="18" charset="0"/>
                <a:cs typeface="Times New Roman" panose="02020603050405020304" pitchFamily="18" charset="0"/>
              </a:rPr>
              <a:t>Logistic Regression</a:t>
            </a:r>
          </a:p>
          <a:p>
            <a:pPr lvl="1"/>
            <a:r>
              <a:rPr lang="en-IN" sz="1800" dirty="0">
                <a:latin typeface="Times New Roman" panose="02020603050405020304" pitchFamily="18" charset="0"/>
                <a:cs typeface="Times New Roman" panose="02020603050405020304" pitchFamily="18" charset="0"/>
              </a:rPr>
              <a:t>KNN</a:t>
            </a:r>
          </a:p>
          <a:p>
            <a:pPr marL="0" indent="0">
              <a:buNone/>
            </a:pPr>
            <a:r>
              <a:rPr lang="en-IN" sz="1800" b="1" dirty="0">
                <a:latin typeface="Times New Roman" panose="02020603050405020304" pitchFamily="18" charset="0"/>
                <a:cs typeface="Times New Roman" panose="02020603050405020304" pitchFamily="18" charset="0"/>
              </a:rPr>
              <a:t> </a:t>
            </a:r>
            <a:r>
              <a:rPr lang="en-IN" sz="1800" b="1" dirty="0">
                <a:solidFill>
                  <a:srgbClr val="C00000"/>
                </a:solidFill>
                <a:latin typeface="Times New Roman" panose="02020603050405020304" pitchFamily="18" charset="0"/>
                <a:cs typeface="Times New Roman" panose="02020603050405020304" pitchFamily="18" charset="0"/>
              </a:rPr>
              <a:t>Goal: </a:t>
            </a:r>
            <a:r>
              <a:rPr lang="en-IN" sz="1800" b="1" dirty="0">
                <a:solidFill>
                  <a:srgbClr val="219D1B"/>
                </a:solidFill>
                <a:latin typeface="Times New Roman" panose="02020603050405020304" pitchFamily="18" charset="0"/>
                <a:cs typeface="Times New Roman" panose="02020603050405020304" pitchFamily="18" charset="0"/>
              </a:rPr>
              <a:t>Prepare clean, consistent, and model-ready data for accurate predictions</a:t>
            </a:r>
          </a:p>
        </p:txBody>
      </p:sp>
    </p:spTree>
    <p:extLst>
      <p:ext uri="{BB962C8B-B14F-4D97-AF65-F5344CB8AC3E}">
        <p14:creationId xmlns:p14="http://schemas.microsoft.com/office/powerpoint/2010/main" val="387828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0C78E-1898-3CE3-E00A-F73817286736}"/>
              </a:ext>
            </a:extLst>
          </p:cNvPr>
          <p:cNvSpPr>
            <a:spLocks noGrp="1"/>
          </p:cNvSpPr>
          <p:nvPr>
            <p:ph idx="1"/>
          </p:nvPr>
        </p:nvSpPr>
        <p:spPr>
          <a:xfrm>
            <a:off x="838200" y="255639"/>
            <a:ext cx="10515600" cy="5921324"/>
          </a:xfrm>
        </p:spPr>
        <p:txBody>
          <a:bodyPr>
            <a:normAutofit lnSpcReduction="10000"/>
          </a:bodyPr>
          <a:lstStyle/>
          <a:p>
            <a:pPr marL="0" indent="0">
              <a:buNone/>
            </a:pPr>
            <a:r>
              <a:rPr lang="en-IN" sz="1800" b="1" dirty="0">
                <a:solidFill>
                  <a:srgbClr val="C00000"/>
                </a:solidFill>
                <a:latin typeface="Times New Roman" panose="02020603050405020304" pitchFamily="18" charset="0"/>
                <a:cs typeface="Times New Roman" panose="02020603050405020304" pitchFamily="18" charset="0"/>
              </a:rPr>
              <a:t>4.Model Selection:   </a:t>
            </a:r>
            <a:r>
              <a:rPr lang="en-IN" sz="1800" b="1" i="1" dirty="0">
                <a:solidFill>
                  <a:schemeClr val="accent2"/>
                </a:solidFill>
                <a:latin typeface="Times New Roman" panose="02020603050405020304" pitchFamily="18" charset="0"/>
                <a:cs typeface="Times New Roman" panose="02020603050405020304" pitchFamily="18" charset="0"/>
              </a:rPr>
              <a:t>Reason for choosing CATBOOST Algorithm</a:t>
            </a:r>
          </a:p>
          <a:p>
            <a:pPr marL="0" indent="0">
              <a:buNone/>
            </a:pPr>
            <a:endParaRPr lang="en-IN" sz="1800" b="1" i="1" dirty="0">
              <a:solidFill>
                <a:schemeClr val="accent2"/>
              </a:solidFill>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Handles categorical features natively</a:t>
            </a:r>
            <a:r>
              <a:rPr lang="en-US" altLang="en-US" sz="1800" dirty="0">
                <a:latin typeface="Times New Roman" panose="02020603050405020304" pitchFamily="18" charset="0"/>
                <a:cs typeface="Times New Roman" panose="02020603050405020304" pitchFamily="18" charset="0"/>
              </a:rPr>
              <a:t> → No need for manual encoding</a:t>
            </a:r>
          </a:p>
          <a:p>
            <a:pPr marL="0" lvl="0" indent="0" eaLnBrk="0" fontAlgn="base" hangingPunct="0">
              <a:lnSpc>
                <a:spcPct val="15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High accuracy with minimal preprocessing</a:t>
            </a:r>
            <a:r>
              <a:rPr lang="en-US" altLang="en-US" sz="1800" dirty="0">
                <a:latin typeface="Times New Roman" panose="02020603050405020304" pitchFamily="18" charset="0"/>
                <a:cs typeface="Times New Roman" panose="02020603050405020304" pitchFamily="18" charset="0"/>
              </a:rPr>
              <a:t> → Outperforms traditional models on mixed data</a:t>
            </a:r>
          </a:p>
          <a:p>
            <a:pPr marL="0" lvl="0" indent="0" eaLnBrk="0" fontAlgn="base" hangingPunct="0">
              <a:lnSpc>
                <a:spcPct val="15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Robust to overfitting</a:t>
            </a:r>
            <a:r>
              <a:rPr lang="en-US" altLang="en-US" sz="1800" dirty="0">
                <a:latin typeface="Times New Roman" panose="02020603050405020304" pitchFamily="18" charset="0"/>
                <a:cs typeface="Times New Roman" panose="02020603050405020304" pitchFamily="18" charset="0"/>
              </a:rPr>
              <a:t> → Uses ordered boosting and regularization</a:t>
            </a:r>
          </a:p>
          <a:p>
            <a:pPr marL="0" lvl="0" indent="0" eaLnBrk="0" fontAlgn="base" hangingPunct="0">
              <a:lnSpc>
                <a:spcPct val="15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Built-in feature importance</a:t>
            </a:r>
            <a:r>
              <a:rPr lang="en-US" altLang="en-US" sz="1800" dirty="0">
                <a:latin typeface="Times New Roman" panose="02020603050405020304" pitchFamily="18" charset="0"/>
                <a:cs typeface="Times New Roman" panose="02020603050405020304" pitchFamily="18" charset="0"/>
              </a:rPr>
              <a:t> → Helps interpret model decisions</a:t>
            </a:r>
          </a:p>
          <a:p>
            <a:pPr marL="0" lvl="0" indent="0" eaLnBrk="0" fontAlgn="base" hangingPunct="0">
              <a:lnSpc>
                <a:spcPct val="15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Fast and scalable</a:t>
            </a:r>
            <a:r>
              <a:rPr lang="en-US" altLang="en-US" sz="1800" dirty="0">
                <a:latin typeface="Times New Roman" panose="02020603050405020304" pitchFamily="18" charset="0"/>
                <a:cs typeface="Times New Roman" panose="02020603050405020304" pitchFamily="18" charset="0"/>
              </a:rPr>
              <a:t> → Efficient even on medium-sized datasets</a:t>
            </a:r>
          </a:p>
          <a:p>
            <a:pPr marL="0" lvl="0" indent="0" eaLnBrk="0" fontAlgn="base" hangingPunct="0">
              <a:lnSpc>
                <a:spcPct val="100000"/>
              </a:lnSpc>
              <a:spcBef>
                <a:spcPct val="0"/>
              </a:spcBef>
              <a:spcAft>
                <a:spcPct val="0"/>
              </a:spcAft>
              <a:buFontTx/>
              <a:buChar char="•"/>
            </a:pPr>
            <a:endParaRPr lang="en-US" altLang="en-US" sz="1800" dirty="0">
              <a:latin typeface="Times New Roman" panose="02020603050405020304" pitchFamily="18" charset="0"/>
              <a:cs typeface="Times New Roman" panose="02020603050405020304" pitchFamily="18" charset="0"/>
            </a:endParaRPr>
          </a:p>
          <a:p>
            <a:pPr marL="0" indent="0">
              <a:buNone/>
            </a:pPr>
            <a:r>
              <a:rPr lang="en-US" sz="2000" b="1" dirty="0" err="1">
                <a:solidFill>
                  <a:srgbClr val="C00000"/>
                </a:solidFill>
                <a:latin typeface="Times New Roman" panose="02020603050405020304" pitchFamily="18" charset="0"/>
                <a:cs typeface="Times New Roman" panose="02020603050405020304" pitchFamily="18" charset="0"/>
              </a:rPr>
              <a:t>CatBoost</a:t>
            </a:r>
            <a:r>
              <a:rPr lang="en-US" sz="2000" b="1" dirty="0">
                <a:solidFill>
                  <a:srgbClr val="C00000"/>
                </a:solidFill>
                <a:latin typeface="Times New Roman" panose="02020603050405020304" pitchFamily="18" charset="0"/>
                <a:cs typeface="Times New Roman" panose="02020603050405020304" pitchFamily="18" charset="0"/>
              </a:rPr>
              <a:t> Workflow (Step-by-Step)</a:t>
            </a:r>
          </a:p>
          <a:p>
            <a:r>
              <a:rPr lang="en-US" sz="1800" b="1" dirty="0">
                <a:latin typeface="Times New Roman" panose="02020603050405020304" pitchFamily="18" charset="0"/>
                <a:cs typeface="Times New Roman" panose="02020603050405020304" pitchFamily="18" charset="0"/>
              </a:rPr>
              <a:t>Raw Data Input</a:t>
            </a:r>
            <a:r>
              <a:rPr lang="en-US" sz="1800" dirty="0">
                <a:latin typeface="Times New Roman" panose="02020603050405020304" pitchFamily="18" charset="0"/>
                <a:cs typeface="Times New Roman" panose="02020603050405020304" pitchFamily="18" charset="0"/>
              </a:rPr>
              <a:t> → Includes both numerical and categorical features</a:t>
            </a:r>
          </a:p>
          <a:p>
            <a:r>
              <a:rPr lang="en-US" sz="1800" b="1" dirty="0">
                <a:latin typeface="Times New Roman" panose="02020603050405020304" pitchFamily="18" charset="0"/>
                <a:cs typeface="Times New Roman" panose="02020603050405020304" pitchFamily="18" charset="0"/>
              </a:rPr>
              <a:t>Categorical Feature Conversion</a:t>
            </a:r>
            <a:r>
              <a:rPr lang="en-US" sz="1800" dirty="0">
                <a:latin typeface="Times New Roman" panose="02020603050405020304" pitchFamily="18" charset="0"/>
                <a:cs typeface="Times New Roman" panose="02020603050405020304" pitchFamily="18" charset="0"/>
              </a:rPr>
              <a:t> → Uses </a:t>
            </a:r>
            <a:r>
              <a:rPr lang="en-US" sz="1800" b="1" dirty="0">
                <a:latin typeface="Times New Roman" panose="02020603050405020304" pitchFamily="18" charset="0"/>
                <a:cs typeface="Times New Roman" panose="02020603050405020304" pitchFamily="18" charset="0"/>
              </a:rPr>
              <a:t>ordered statistics</a:t>
            </a:r>
            <a:r>
              <a:rPr lang="en-US" sz="1800" dirty="0">
                <a:latin typeface="Times New Roman" panose="02020603050405020304" pitchFamily="18" charset="0"/>
                <a:cs typeface="Times New Roman" panose="02020603050405020304" pitchFamily="18" charset="0"/>
              </a:rPr>
              <a:t> to convert categories </a:t>
            </a:r>
          </a:p>
          <a:p>
            <a:pPr marL="0" indent="0">
              <a:buNone/>
            </a:pPr>
            <a:r>
              <a:rPr lang="en-US" sz="1800" dirty="0">
                <a:latin typeface="Times New Roman" panose="02020603050405020304" pitchFamily="18" charset="0"/>
                <a:cs typeface="Times New Roman" panose="02020603050405020304" pitchFamily="18" charset="0"/>
              </a:rPr>
              <a:t>      to numeric values</a:t>
            </a:r>
          </a:p>
          <a:p>
            <a:r>
              <a:rPr lang="en-US" sz="1800" b="1" dirty="0">
                <a:latin typeface="Times New Roman" panose="02020603050405020304" pitchFamily="18" charset="0"/>
                <a:cs typeface="Times New Roman" panose="02020603050405020304" pitchFamily="18" charset="0"/>
              </a:rPr>
              <a:t>Train Decision Trees</a:t>
            </a:r>
            <a:r>
              <a:rPr lang="en-US" sz="1800" dirty="0">
                <a:latin typeface="Times New Roman" panose="02020603050405020304" pitchFamily="18" charset="0"/>
                <a:cs typeface="Times New Roman" panose="02020603050405020304" pitchFamily="18" charset="0"/>
              </a:rPr>
              <a:t> → Builds trees using gradient boosting framework</a:t>
            </a:r>
          </a:p>
          <a:p>
            <a:r>
              <a:rPr lang="en-US" sz="1800" b="1" dirty="0">
                <a:latin typeface="Times New Roman" panose="02020603050405020304" pitchFamily="18" charset="0"/>
                <a:cs typeface="Times New Roman" panose="02020603050405020304" pitchFamily="18" charset="0"/>
              </a:rPr>
              <a:t>Compute Step Size &amp; Update Approximation</a:t>
            </a:r>
            <a:r>
              <a:rPr lang="en-US" sz="1800" dirty="0">
                <a:latin typeface="Times New Roman" panose="02020603050405020304" pitchFamily="18" charset="0"/>
                <a:cs typeface="Times New Roman" panose="02020603050405020304" pitchFamily="18" charset="0"/>
              </a:rPr>
              <a:t> → Optimizes predictions iteratively</a:t>
            </a:r>
          </a:p>
          <a:p>
            <a:r>
              <a:rPr lang="en-US" sz="1800" b="1" dirty="0">
                <a:latin typeface="Times New Roman" panose="02020603050405020304" pitchFamily="18" charset="0"/>
                <a:cs typeface="Times New Roman" panose="02020603050405020304" pitchFamily="18" charset="0"/>
              </a:rPr>
              <a:t>Final Model Output</a:t>
            </a:r>
            <a:r>
              <a:rPr lang="en-US" sz="1800" dirty="0">
                <a:latin typeface="Times New Roman" panose="02020603050405020304" pitchFamily="18" charset="0"/>
                <a:cs typeface="Times New Roman" panose="02020603050405020304" pitchFamily="18" charset="0"/>
              </a:rPr>
              <a:t> → High-quality predictions with built-in feature importance</a:t>
            </a:r>
          </a:p>
          <a:p>
            <a:pPr marL="0" indent="0">
              <a:buNone/>
            </a:pPr>
            <a:br>
              <a:rPr lang="en-IN" sz="1800" b="1" i="1" dirty="0">
                <a:solidFill>
                  <a:schemeClr val="accent2"/>
                </a:solidFill>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pic>
        <p:nvPicPr>
          <p:cNvPr id="4100" name="Picture 4" descr="Flowchart of CatBoost algorithm showing key steps: data input, categorical feature handling, ordered boosting, model training, prediction, and feature importance extraction. Include arrows connecting each step in a clean, professional layout.">
            <a:extLst>
              <a:ext uri="{FF2B5EF4-FFF2-40B4-BE49-F238E27FC236}">
                <a16:creationId xmlns:a16="http://schemas.microsoft.com/office/drawing/2014/main" id="{8FAD754F-F622-3A0C-9301-E98ACF9B6F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5341" y="1663956"/>
            <a:ext cx="2861187" cy="4513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597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E20972-DA8C-0C67-24A3-A19C35F1EB1A}"/>
              </a:ext>
            </a:extLst>
          </p:cNvPr>
          <p:cNvSpPr>
            <a:spLocks noGrp="1"/>
          </p:cNvSpPr>
          <p:nvPr>
            <p:ph idx="1"/>
          </p:nvPr>
        </p:nvSpPr>
        <p:spPr>
          <a:xfrm>
            <a:off x="277762" y="186813"/>
            <a:ext cx="10515600" cy="5990150"/>
          </a:xfrm>
        </p:spPr>
        <p:txBody>
          <a:bodyPr>
            <a:normAutofit/>
          </a:bodyPr>
          <a:lstStyle/>
          <a:p>
            <a:pPr marL="0" indent="0">
              <a:buNone/>
            </a:pPr>
            <a:r>
              <a:rPr lang="en-US" sz="1700" b="1" dirty="0">
                <a:solidFill>
                  <a:srgbClr val="C00000"/>
                </a:solidFill>
                <a:latin typeface="Times New Roman" panose="02020603050405020304" pitchFamily="18" charset="0"/>
                <a:cs typeface="Times New Roman" panose="02020603050405020304" pitchFamily="18" charset="0"/>
              </a:rPr>
              <a:t>5.Model Training</a:t>
            </a:r>
          </a:p>
          <a:p>
            <a:r>
              <a:rPr lang="en-IN" sz="1800" dirty="0">
                <a:latin typeface="Times New Roman" panose="02020603050405020304" pitchFamily="18" charset="0"/>
                <a:cs typeface="Times New Roman" panose="02020603050405020304" pitchFamily="18" charset="0"/>
              </a:rPr>
              <a:t>Logistic Regression</a:t>
            </a:r>
          </a:p>
          <a:p>
            <a:r>
              <a:rPr lang="en-IN" sz="1800" dirty="0">
                <a:latin typeface="Times New Roman" panose="02020603050405020304" pitchFamily="18" charset="0"/>
                <a:cs typeface="Times New Roman" panose="02020603050405020304" pitchFamily="18" charset="0"/>
              </a:rPr>
              <a:t> Random Forest</a:t>
            </a:r>
          </a:p>
          <a:p>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CatBoost</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KNN</a:t>
            </a:r>
          </a:p>
          <a:p>
            <a:r>
              <a:rPr lang="en-IN" sz="1800" dirty="0">
                <a:latin typeface="Times New Roman" panose="02020603050405020304" pitchFamily="18" charset="0"/>
                <a:cs typeface="Times New Roman" panose="02020603050405020304" pitchFamily="18" charset="0"/>
              </a:rPr>
              <a:t>AdaBoost</a:t>
            </a:r>
          </a:p>
          <a:p>
            <a:r>
              <a:rPr lang="en-IN" sz="1800" dirty="0">
                <a:latin typeface="Times New Roman" panose="02020603050405020304" pitchFamily="18" charset="0"/>
                <a:cs typeface="Times New Roman" panose="02020603050405020304" pitchFamily="18" charset="0"/>
              </a:rPr>
              <a:t> Gradient Boosting</a:t>
            </a:r>
          </a:p>
          <a:p>
            <a:pPr marL="0" indent="0">
              <a:buNone/>
            </a:pPr>
            <a:r>
              <a:rPr lang="en-US" sz="1800" b="1" dirty="0">
                <a:solidFill>
                  <a:srgbClr val="C00000"/>
                </a:solidFill>
                <a:latin typeface="Times New Roman" panose="02020603050405020304" pitchFamily="18" charset="0"/>
                <a:cs typeface="Times New Roman" panose="02020603050405020304" pitchFamily="18" charset="0"/>
              </a:rPr>
              <a:t>6.</a:t>
            </a:r>
            <a:r>
              <a:rPr lang="en-IN" sz="1800" b="1" dirty="0">
                <a:solidFill>
                  <a:srgbClr val="C00000"/>
                </a:solidFill>
                <a:latin typeface="Times New Roman" panose="02020603050405020304" pitchFamily="18" charset="0"/>
                <a:cs typeface="Times New Roman" panose="02020603050405020304" pitchFamily="18" charset="0"/>
              </a:rPr>
              <a:t> Model Evaluation</a:t>
            </a:r>
          </a:p>
          <a:p>
            <a:pPr marL="0" indent="0">
              <a:buNone/>
            </a:pPr>
            <a:r>
              <a:rPr lang="en-IN" sz="1800" dirty="0">
                <a:latin typeface="Times New Roman" panose="02020603050405020304" pitchFamily="18" charset="0"/>
                <a:cs typeface="Times New Roman" panose="02020603050405020304" pitchFamily="18" charset="0"/>
              </a:rPr>
              <a:t>Evaluate using:</a:t>
            </a:r>
          </a:p>
          <a:p>
            <a:r>
              <a:rPr lang="en-IN" sz="1800" dirty="0">
                <a:latin typeface="Times New Roman" panose="02020603050405020304" pitchFamily="18" charset="0"/>
                <a:cs typeface="Times New Roman" panose="02020603050405020304" pitchFamily="18" charset="0"/>
              </a:rPr>
              <a:t>Accuracy</a:t>
            </a:r>
          </a:p>
          <a:p>
            <a:r>
              <a:rPr lang="en-IN" sz="1800" dirty="0">
                <a:latin typeface="Times New Roman" panose="02020603050405020304" pitchFamily="18" charset="0"/>
                <a:cs typeface="Times New Roman" panose="02020603050405020304" pitchFamily="18" charset="0"/>
              </a:rPr>
              <a:t>  ROC AUC</a:t>
            </a:r>
          </a:p>
          <a:p>
            <a:r>
              <a:rPr lang="en-IN" sz="1800" dirty="0">
                <a:latin typeface="Times New Roman" panose="02020603050405020304" pitchFamily="18" charset="0"/>
                <a:cs typeface="Times New Roman" panose="02020603050405020304" pitchFamily="18" charset="0"/>
              </a:rPr>
              <a:t> F1 Score</a:t>
            </a:r>
          </a:p>
          <a:p>
            <a:r>
              <a:rPr lang="en-IN" sz="1800" dirty="0">
                <a:latin typeface="Times New Roman" panose="02020603050405020304" pitchFamily="18" charset="0"/>
                <a:cs typeface="Times New Roman" panose="02020603050405020304" pitchFamily="18" charset="0"/>
              </a:rPr>
              <a:t> Precision</a:t>
            </a:r>
          </a:p>
          <a:p>
            <a:r>
              <a:rPr lang="en-IN" sz="1800" dirty="0">
                <a:latin typeface="Times New Roman" panose="02020603050405020304" pitchFamily="18" charset="0"/>
                <a:cs typeface="Times New Roman" panose="02020603050405020304" pitchFamily="18" charset="0"/>
              </a:rPr>
              <a:t>Recall</a:t>
            </a:r>
          </a:p>
          <a:p>
            <a:pPr marL="0" indent="0">
              <a:buNone/>
            </a:pPr>
            <a:endParaRPr lang="en-IN" dirty="0"/>
          </a:p>
        </p:txBody>
      </p:sp>
      <p:pic>
        <p:nvPicPr>
          <p:cNvPr id="7" name="Picture 6">
            <a:extLst>
              <a:ext uri="{FF2B5EF4-FFF2-40B4-BE49-F238E27FC236}">
                <a16:creationId xmlns:a16="http://schemas.microsoft.com/office/drawing/2014/main" id="{17427D3F-49C4-8659-56BC-02210238C575}"/>
              </a:ext>
            </a:extLst>
          </p:cNvPr>
          <p:cNvPicPr>
            <a:picLocks noChangeAspect="1"/>
          </p:cNvPicPr>
          <p:nvPr/>
        </p:nvPicPr>
        <p:blipFill>
          <a:blip r:embed="rId2"/>
          <a:stretch>
            <a:fillRect/>
          </a:stretch>
        </p:blipFill>
        <p:spPr>
          <a:xfrm>
            <a:off x="7079362" y="186813"/>
            <a:ext cx="4744845" cy="2587886"/>
          </a:xfrm>
          <a:prstGeom prst="rect">
            <a:avLst/>
          </a:prstGeom>
        </p:spPr>
      </p:pic>
      <p:pic>
        <p:nvPicPr>
          <p:cNvPr id="5124" name="Picture 4">
            <a:extLst>
              <a:ext uri="{FF2B5EF4-FFF2-40B4-BE49-F238E27FC236}">
                <a16:creationId xmlns:a16="http://schemas.microsoft.com/office/drawing/2014/main" id="{C5076065-35B1-8652-9489-51DE76B07F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6387" y="186813"/>
            <a:ext cx="4139381" cy="2851354"/>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2607960D-15E8-965C-F957-C39DF0FF9E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0516" y="3014522"/>
            <a:ext cx="9013722" cy="3656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920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4701E12E-4490-32CD-8691-DD231B507B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3605" y="1101213"/>
            <a:ext cx="5957153" cy="495545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5BB9F536-3C5A-381C-BE4F-F958EBCD70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179872"/>
            <a:ext cx="5842395" cy="4955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659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B6A938-F3A4-22BC-7167-C6A481033064}"/>
              </a:ext>
            </a:extLst>
          </p:cNvPr>
          <p:cNvSpPr>
            <a:spLocks noGrp="1"/>
          </p:cNvSpPr>
          <p:nvPr>
            <p:ph sz="half" idx="1"/>
          </p:nvPr>
        </p:nvSpPr>
        <p:spPr>
          <a:xfrm>
            <a:off x="838200" y="157316"/>
            <a:ext cx="5946058" cy="6019647"/>
          </a:xfrm>
        </p:spPr>
        <p:txBody>
          <a:bodyPr>
            <a:normAutofit fontScale="62500" lnSpcReduction="20000"/>
          </a:bodyPr>
          <a:lstStyle/>
          <a:p>
            <a:pPr marL="0" indent="0">
              <a:buNone/>
            </a:pPr>
            <a:r>
              <a:rPr lang="en-US" sz="3800" b="1" dirty="0">
                <a:latin typeface="Times New Roman" panose="02020603050405020304" pitchFamily="18" charset="0"/>
                <a:cs typeface="Times New Roman" panose="02020603050405020304" pitchFamily="18" charset="0"/>
              </a:rPr>
              <a:t>Key Observations from </a:t>
            </a:r>
            <a:r>
              <a:rPr lang="en-US" sz="3800" b="1" dirty="0" err="1">
                <a:latin typeface="Times New Roman" panose="02020603050405020304" pitchFamily="18" charset="0"/>
                <a:cs typeface="Times New Roman" panose="02020603050405020304" pitchFamily="18" charset="0"/>
              </a:rPr>
              <a:t>CatBoost</a:t>
            </a:r>
            <a:r>
              <a:rPr lang="en-US" sz="3800" b="1" dirty="0">
                <a:latin typeface="Times New Roman" panose="02020603050405020304" pitchFamily="18" charset="0"/>
                <a:cs typeface="Times New Roman" panose="02020603050405020304" pitchFamily="18" charset="0"/>
              </a:rPr>
              <a:t> Model</a:t>
            </a:r>
          </a:p>
          <a:p>
            <a:pPr marL="0" indent="0">
              <a:buNone/>
            </a:pPr>
            <a:r>
              <a:rPr lang="en-US" sz="2600" b="1" dirty="0">
                <a:solidFill>
                  <a:srgbClr val="C00000"/>
                </a:solidFill>
                <a:latin typeface="Times New Roman" panose="02020603050405020304" pitchFamily="18" charset="0"/>
                <a:cs typeface="Times New Roman" panose="02020603050405020304" pitchFamily="18" charset="0"/>
              </a:rPr>
              <a:t>Superior Performance</a:t>
            </a:r>
          </a:p>
          <a:p>
            <a:r>
              <a:rPr lang="en-US" sz="2600" b="1" dirty="0">
                <a:latin typeface="Times New Roman" panose="02020603050405020304" pitchFamily="18" charset="0"/>
                <a:cs typeface="Times New Roman" panose="02020603050405020304" pitchFamily="18" charset="0"/>
              </a:rPr>
              <a:t>Highest Accuracy</a:t>
            </a:r>
            <a:r>
              <a:rPr lang="en-US" sz="2600" dirty="0">
                <a:latin typeface="Times New Roman" panose="02020603050405020304" pitchFamily="18" charset="0"/>
                <a:cs typeface="Times New Roman" panose="02020603050405020304" pitchFamily="18" charset="0"/>
              </a:rPr>
              <a:t>: 75.55%</a:t>
            </a:r>
          </a:p>
          <a:p>
            <a:r>
              <a:rPr lang="en-US" sz="2600" b="1" dirty="0">
                <a:latin typeface="Times New Roman" panose="02020603050405020304" pitchFamily="18" charset="0"/>
                <a:cs typeface="Times New Roman" panose="02020603050405020304" pitchFamily="18" charset="0"/>
              </a:rPr>
              <a:t>Best ROC AUC</a:t>
            </a:r>
            <a:r>
              <a:rPr lang="en-US" sz="2600" dirty="0">
                <a:latin typeface="Times New Roman" panose="02020603050405020304" pitchFamily="18" charset="0"/>
                <a:cs typeface="Times New Roman" panose="02020603050405020304" pitchFamily="18" charset="0"/>
              </a:rPr>
              <a:t>: 82.29%</a:t>
            </a:r>
          </a:p>
          <a:p>
            <a:r>
              <a:rPr lang="en-US" sz="2600" b="1" dirty="0">
                <a:latin typeface="Times New Roman" panose="02020603050405020304" pitchFamily="18" charset="0"/>
                <a:cs typeface="Times New Roman" panose="02020603050405020304" pitchFamily="18" charset="0"/>
              </a:rPr>
              <a:t>Strong F1 Score</a:t>
            </a:r>
            <a:r>
              <a:rPr lang="en-US" sz="2600" dirty="0">
                <a:latin typeface="Times New Roman" panose="02020603050405020304" pitchFamily="18" charset="0"/>
                <a:cs typeface="Times New Roman" panose="02020603050405020304" pitchFamily="18" charset="0"/>
              </a:rPr>
              <a:t>: 79.16%</a:t>
            </a:r>
          </a:p>
          <a:p>
            <a:r>
              <a:rPr lang="en-US" sz="2600" dirty="0">
                <a:latin typeface="Times New Roman" panose="02020603050405020304" pitchFamily="18" charset="0"/>
                <a:cs typeface="Times New Roman" panose="02020603050405020304" pitchFamily="18" charset="0"/>
              </a:rPr>
              <a:t>Outperforms all other models across key metrics</a:t>
            </a:r>
          </a:p>
          <a:p>
            <a:r>
              <a:rPr lang="en-US" sz="2600" b="1" dirty="0">
                <a:latin typeface="Times New Roman" panose="02020603050405020304" pitchFamily="18" charset="0"/>
                <a:cs typeface="Times New Roman" panose="02020603050405020304" pitchFamily="18" charset="0"/>
              </a:rPr>
              <a:t>Balanced Precision &amp; Recall</a:t>
            </a:r>
          </a:p>
          <a:p>
            <a:r>
              <a:rPr lang="en-US" sz="2600" b="1" dirty="0">
                <a:latin typeface="Times New Roman" panose="02020603050405020304" pitchFamily="18" charset="0"/>
                <a:cs typeface="Times New Roman" panose="02020603050405020304" pitchFamily="18" charset="0"/>
              </a:rPr>
              <a:t>Precision</a:t>
            </a:r>
            <a:r>
              <a:rPr lang="en-US" sz="2600" dirty="0">
                <a:latin typeface="Times New Roman" panose="02020603050405020304" pitchFamily="18" charset="0"/>
                <a:cs typeface="Times New Roman" panose="02020603050405020304" pitchFamily="18" charset="0"/>
              </a:rPr>
              <a:t>: 76.47%</a:t>
            </a:r>
          </a:p>
          <a:p>
            <a:r>
              <a:rPr lang="en-US" sz="2600" b="1" dirty="0">
                <a:latin typeface="Times New Roman" panose="02020603050405020304" pitchFamily="18" charset="0"/>
                <a:cs typeface="Times New Roman" panose="02020603050405020304" pitchFamily="18" charset="0"/>
              </a:rPr>
              <a:t>Recall</a:t>
            </a:r>
            <a:r>
              <a:rPr lang="en-US" sz="2600" dirty="0">
                <a:latin typeface="Times New Roman" panose="02020603050405020304" pitchFamily="18" charset="0"/>
                <a:cs typeface="Times New Roman" panose="02020603050405020304" pitchFamily="18" charset="0"/>
              </a:rPr>
              <a:t>: 82.03%</a:t>
            </a:r>
          </a:p>
          <a:p>
            <a:r>
              <a:rPr lang="en-US" sz="2600" dirty="0">
                <a:latin typeface="Times New Roman" panose="02020603050405020304" pitchFamily="18" charset="0"/>
                <a:cs typeface="Times New Roman" panose="02020603050405020304" pitchFamily="18" charset="0"/>
              </a:rPr>
              <a:t>Indicates strong ability to correctly identify</a:t>
            </a:r>
          </a:p>
          <a:p>
            <a:pPr marL="0" indent="0">
              <a:buNone/>
            </a:pPr>
            <a:r>
              <a:rPr lang="en-US" sz="2600" dirty="0">
                <a:latin typeface="Times New Roman" panose="02020603050405020304" pitchFamily="18" charset="0"/>
                <a:cs typeface="Times New Roman" panose="02020603050405020304" pitchFamily="18" charset="0"/>
              </a:rPr>
              <a:t>   both accepted and rejected coupons</a:t>
            </a:r>
          </a:p>
          <a:p>
            <a:pPr marL="0" indent="0">
              <a:buNone/>
            </a:pPr>
            <a:endParaRPr lang="en-US" sz="2600" b="1" dirty="0">
              <a:solidFill>
                <a:srgbClr val="C00000"/>
              </a:solidFill>
              <a:latin typeface="Times New Roman" panose="02020603050405020304" pitchFamily="18" charset="0"/>
              <a:cs typeface="Times New Roman" panose="02020603050405020304" pitchFamily="18" charset="0"/>
            </a:endParaRPr>
          </a:p>
          <a:p>
            <a:pPr marL="0" indent="0">
              <a:buNone/>
            </a:pPr>
            <a:r>
              <a:rPr lang="en-US" sz="2600" b="1" dirty="0">
                <a:solidFill>
                  <a:srgbClr val="C00000"/>
                </a:solidFill>
                <a:latin typeface="Times New Roman" panose="02020603050405020304" pitchFamily="18" charset="0"/>
                <a:cs typeface="Times New Roman" panose="02020603050405020304" pitchFamily="18" charset="0"/>
              </a:rPr>
              <a:t>Feature Importance Insights</a:t>
            </a:r>
          </a:p>
          <a:p>
            <a:pPr marL="0" indent="0">
              <a:buNone/>
            </a:pPr>
            <a:r>
              <a:rPr lang="en-US" sz="2600" b="1" dirty="0">
                <a:latin typeface="Times New Roman" panose="02020603050405020304" pitchFamily="18" charset="0"/>
                <a:cs typeface="Times New Roman" panose="02020603050405020304" pitchFamily="18" charset="0"/>
              </a:rPr>
              <a:t>Top predictors of coupon acceptance:</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Coupon type</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Occupation</a:t>
            </a:r>
          </a:p>
          <a:p>
            <a:pPr marL="514350" indent="-514350">
              <a:buFont typeface="+mj-lt"/>
              <a:buAutoNum type="arabicPeriod"/>
            </a:pPr>
            <a:r>
              <a:rPr lang="en-US" sz="2600" dirty="0" err="1">
                <a:latin typeface="Times New Roman" panose="02020603050405020304" pitchFamily="18" charset="0"/>
                <a:cs typeface="Times New Roman" panose="02020603050405020304" pitchFamily="18" charset="0"/>
              </a:rPr>
              <a:t>CoffeeHouse</a:t>
            </a:r>
            <a:r>
              <a:rPr lang="en-US" sz="2600" dirty="0">
                <a:latin typeface="Times New Roman" panose="02020603050405020304" pitchFamily="18" charset="0"/>
                <a:cs typeface="Times New Roman" panose="02020603050405020304" pitchFamily="18" charset="0"/>
              </a:rPr>
              <a:t> visits</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Age</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Education</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9D295DE7-52CA-27C8-A8BF-3C7303F8862B}"/>
              </a:ext>
            </a:extLst>
          </p:cNvPr>
          <p:cNvSpPr>
            <a:spLocks noGrp="1"/>
          </p:cNvSpPr>
          <p:nvPr>
            <p:ph sz="half" idx="2"/>
          </p:nvPr>
        </p:nvSpPr>
        <p:spPr>
          <a:xfrm>
            <a:off x="6951406" y="393290"/>
            <a:ext cx="5014452" cy="5783673"/>
          </a:xfrm>
        </p:spPr>
        <p:txBody>
          <a:bodyPr>
            <a:normAutofit fontScale="62500" lnSpcReduction="20000"/>
          </a:bodyPr>
          <a:lstStyle/>
          <a:p>
            <a:pPr marL="514350" indent="-514350">
              <a:buFont typeface="+mj-lt"/>
              <a:buAutoNum type="arabicPeriod" startAt="6"/>
            </a:pPr>
            <a:r>
              <a:rPr lang="en-US" sz="2600" dirty="0">
                <a:latin typeface="Times New Roman" panose="02020603050405020304" pitchFamily="18" charset="0"/>
                <a:cs typeface="Times New Roman" panose="02020603050405020304" pitchFamily="18" charset="0"/>
              </a:rPr>
              <a:t>Bar visits</a:t>
            </a:r>
          </a:p>
          <a:p>
            <a:pPr marL="514350" indent="-514350">
              <a:buFont typeface="+mj-lt"/>
              <a:buAutoNum type="arabicPeriod" startAt="6"/>
            </a:pPr>
            <a:r>
              <a:rPr lang="en-US" sz="2600" dirty="0">
                <a:latin typeface="Times New Roman" panose="02020603050405020304" pitchFamily="18" charset="0"/>
                <a:cs typeface="Times New Roman" panose="02020603050405020304" pitchFamily="18" charset="0"/>
              </a:rPr>
              <a:t>Expiration</a:t>
            </a:r>
          </a:p>
          <a:p>
            <a:pPr marL="514350" indent="-514350">
              <a:buFont typeface="+mj-lt"/>
              <a:buAutoNum type="arabicPeriod" startAt="6"/>
            </a:pPr>
            <a:r>
              <a:rPr lang="en-US" sz="2600" dirty="0">
                <a:latin typeface="Times New Roman" panose="02020603050405020304" pitchFamily="18" charset="0"/>
                <a:cs typeface="Times New Roman" panose="02020603050405020304" pitchFamily="18" charset="0"/>
              </a:rPr>
              <a:t>Destination</a:t>
            </a:r>
          </a:p>
          <a:p>
            <a:pPr marL="514350" indent="-514350">
              <a:buFont typeface="+mj-lt"/>
              <a:buAutoNum type="arabicPeriod" startAt="6"/>
            </a:pPr>
            <a:r>
              <a:rPr lang="en-US" sz="2600" dirty="0">
                <a:latin typeface="Times New Roman" panose="02020603050405020304" pitchFamily="18" charset="0"/>
                <a:cs typeface="Times New Roman" panose="02020603050405020304" pitchFamily="18" charset="0"/>
              </a:rPr>
              <a:t>Restaurant20To50 visits</a:t>
            </a:r>
          </a:p>
          <a:p>
            <a:pPr marL="514350" indent="-514350">
              <a:buFont typeface="+mj-lt"/>
              <a:buAutoNum type="arabicPeriod" startAt="6"/>
            </a:pPr>
            <a:r>
              <a:rPr lang="en-US" sz="2600" dirty="0">
                <a:latin typeface="Times New Roman" panose="02020603050405020304" pitchFamily="18" charset="0"/>
                <a:cs typeface="Times New Roman" panose="02020603050405020304" pitchFamily="18" charset="0"/>
              </a:rPr>
              <a:t>Marital Status</a:t>
            </a:r>
          </a:p>
          <a:p>
            <a:endParaRPr lang="en-US" sz="2600" dirty="0">
              <a:latin typeface="Times New Roman" panose="02020603050405020304" pitchFamily="18" charset="0"/>
              <a:cs typeface="Times New Roman" panose="02020603050405020304" pitchFamily="18" charset="0"/>
            </a:endParaRPr>
          </a:p>
          <a:p>
            <a:pPr marL="0" indent="0">
              <a:buNone/>
            </a:pPr>
            <a:r>
              <a:rPr lang="en-US" sz="2600" b="1" dirty="0">
                <a:latin typeface="Times New Roman" panose="02020603050405020304" pitchFamily="18" charset="0"/>
                <a:cs typeface="Times New Roman" panose="02020603050405020304" pitchFamily="18" charset="0"/>
              </a:rPr>
              <a:t>Efficient Training</a:t>
            </a:r>
          </a:p>
          <a:p>
            <a:pPr>
              <a:lnSpc>
                <a:spcPct val="170000"/>
              </a:lnSpc>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Minimal preprocessing required</a:t>
            </a:r>
          </a:p>
          <a:p>
            <a:pPr>
              <a:lnSpc>
                <a:spcPct val="170000"/>
              </a:lnSpc>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Handled categorical features natively</a:t>
            </a:r>
          </a:p>
          <a:p>
            <a:pPr>
              <a:lnSpc>
                <a:spcPct val="170000"/>
              </a:lnSpc>
              <a:buFont typeface="Wingdings" panose="05000000000000000000" pitchFamily="2" charset="2"/>
              <a:buChar char="ü"/>
            </a:pPr>
            <a:r>
              <a:rPr lang="en-US" sz="2600" dirty="0" err="1">
                <a:latin typeface="Times New Roman" panose="02020603050405020304" pitchFamily="18" charset="0"/>
                <a:cs typeface="Times New Roman" panose="02020603050405020304" pitchFamily="18" charset="0"/>
              </a:rPr>
              <a:t>GridSearch</a:t>
            </a:r>
            <a:r>
              <a:rPr lang="en-US" sz="2600" dirty="0">
                <a:latin typeface="Times New Roman" panose="02020603050405020304" pitchFamily="18" charset="0"/>
                <a:cs typeface="Times New Roman" panose="02020603050405020304" pitchFamily="18" charset="0"/>
              </a:rPr>
              <a:t> tuning improved model generalization</a:t>
            </a:r>
          </a:p>
          <a:p>
            <a:pPr>
              <a:lnSpc>
                <a:spcPct val="170000"/>
              </a:lnSpc>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CatBoost</a:t>
            </a:r>
            <a:r>
              <a:rPr lang="en-US" sz="2600" dirty="0">
                <a:latin typeface="Times New Roman" panose="02020603050405020304" pitchFamily="18" charset="0"/>
                <a:cs typeface="Times New Roman" panose="02020603050405020304" pitchFamily="18" charset="0"/>
              </a:rPr>
              <a:t> is the most reliable and interpretable model for predicting coupon acceptance in this dataset.</a:t>
            </a:r>
          </a:p>
          <a:p>
            <a:pPr marL="0" indent="0">
              <a:buNone/>
            </a:pPr>
            <a:endParaRPr lang="en-IN" sz="1100" dirty="0"/>
          </a:p>
        </p:txBody>
      </p:sp>
    </p:spTree>
    <p:extLst>
      <p:ext uri="{BB962C8B-B14F-4D97-AF65-F5344CB8AC3E}">
        <p14:creationId xmlns:p14="http://schemas.microsoft.com/office/powerpoint/2010/main" val="12496997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3395</TotalTime>
  <Words>980</Words>
  <Application>Microsoft Office PowerPoint</Application>
  <PresentationFormat>Widescreen</PresentationFormat>
  <Paragraphs>145</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Wingdings</vt:lpstr>
      <vt:lpstr>Office Theme</vt:lpstr>
      <vt:lpstr>Title : Coupon Recommendation System using CatBoost ML model: Coupon Accepted Vs Rejected</vt:lpstr>
      <vt:lpstr>Will a Customer Accept the Coupon?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SUGUNA S</dc:creator>
  <cp:lastModifiedBy>SUGUNA S</cp:lastModifiedBy>
  <cp:revision>11</cp:revision>
  <dcterms:created xsi:type="dcterms:W3CDTF">2025-10-13T13:05:59Z</dcterms:created>
  <dcterms:modified xsi:type="dcterms:W3CDTF">2025-10-29T17:53:04Z</dcterms:modified>
</cp:coreProperties>
</file>